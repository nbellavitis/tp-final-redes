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4"/>
    <p:restoredTop sz="94686"/>
  </p:normalViewPr>
  <p:slideViewPr>
    <p:cSldViewPr snapToGrid="0" snapToObjects="1">
      <p:cViewPr varScale="1">
        <p:scale>
          <a:sx n="129" d="100"/>
          <a:sy n="129" d="100"/>
        </p:scale>
        <p:origin x="616" y="192"/>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0960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Apertura (Orador 1).</a:t>
            </a:r>
          </a:p>
          <a:p>
            <a:r>
              <a:t>Saludar, presentar al grupo y al tema. 30 segundos.</a:t>
            </a:r>
          </a:p>
          <a:p>
            <a:r>
              <a:t>Mensaje clave: vamos a mostrar como armar un cluster Kubernetes local de forma 100% automatica, desplegar una tienda online de microservicios y demostrar una operacion basica de gestion del cluster.</a:t>
            </a:r>
          </a:p>
          <a:p>
            <a:r>
              <a:t>Duracion total objetivo: ~20 min de slides + 8-10 min de demo en vivo.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1.</a:t>
            </a:r>
          </a:p>
          <a:p>
            <a:r>
              <a:t>Anticipar la estructura: problema, solucion, tecnologias, demo, cierre.</a:t>
            </a:r>
          </a:p>
          <a:p>
            <a:r>
              <a:t>Decir explicitamente: 'No hace falta tener conocimiento previo, vamos a construir los conceptos desde cero'. 30 segundos.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1.</a:t>
            </a:r>
          </a:p>
          <a:p>
            <a:r>
              <a:t>Mostrar el diagrama de la app. Idea: la tienda online no es un solo programa, son 5 servicios que tienen que hablarse entre si.</a:t>
            </a:r>
          </a:p>
          <a:p>
            <a:r>
              <a:t>Analogia util: cada microservicio es como un local distinto del shopping; el cliente recorre varios locales para terminar la compra.</a:t>
            </a:r>
          </a:p>
          <a:p>
            <a:r>
              <a:t>Aclarar: este TP NO es sobre programar la tienda, es sobre como hacerla correr de forma confiable. ~1 min.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1.</a:t>
            </a:r>
          </a:p>
          <a:p>
            <a:r>
              <a:t>Definicion simple: un contenedor es una caja con el servicio + todo lo que necesita para correr, aislado del resto.</a:t>
            </a:r>
          </a:p>
          <a:p>
            <a:r>
              <a:t>Analogia: como un envase sellado de comida congelada. Da lo mismo en que freezer se guarde, sale igual al calentarlo.</a:t>
            </a:r>
          </a:p>
          <a:p>
            <a:r>
              <a:t>Importante para el publico no tecnico: NO es una VM, es mucho mas liviano. Un solo servidor puede correr decenas o cientos.</a:t>
            </a:r>
          </a:p>
          <a:p>
            <a:r>
              <a:t>Decir: la herramienta tipica para crear contenedores es Docker. ~1 min.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1.</a:t>
            </a:r>
          </a:p>
          <a:p>
            <a:r>
              <a:t>Idea fuerza: Kubernetes (K8s) es declarativo. Vos describis el estado deseado y el sistema se ocupa de llegar y mantenerse en ese estado.</a:t>
            </a:r>
          </a:p>
          <a:p>
            <a:r>
              <a:t>Analogia: en vez de manejar manualmente cada empleado del shopping, tenes un gerente que distribuye las tareas y reemplaza al que falto.</a:t>
            </a:r>
          </a:p>
          <a:p>
            <a:r>
              <a:t>Es estandar de facto en la industria. ~1 min.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1.</a:t>
            </a:r>
          </a:p>
          <a:p>
            <a:r>
              <a:t>Aterrizar la motivacion del TP: el problema no es 'usar Kubernetes', es 'armar el cluster donde correra Kubernetes'.</a:t>
            </a:r>
          </a:p>
          <a:p>
            <a:r>
              <a:t>Mencionar que este TP, segun la consigna, evalua justamente el despliegue y la GESTION del cluster, no el desarrollo de la app.</a:t>
            </a:r>
          </a:p>
          <a:p>
            <a:r>
              <a:t>Cierre del bloque: pasamos a contar como lo resolvimos. ~1 min.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2.</a:t>
            </a:r>
          </a:p>
          <a:p>
            <a:r>
              <a:t>Arrancar el bloque de solucion. Mensaje clave: cumplir la pre-entrega es un contrato. Esto es lo que prometimos.</a:t>
            </a:r>
          </a:p>
          <a:p>
            <a:r>
              <a:t>Repasar los 3 casos de uso. La demo los va a tocar a los tres. ~1 min.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2.</a:t>
            </a:r>
          </a:p>
          <a:p>
            <a:r>
              <a:t>Recorrer la pila de abajo hacia arriba.</a:t>
            </a:r>
          </a:p>
          <a:p>
            <a:r>
              <a:t>1) En la laptop tenemos Vagrant, Ansible y kubectl.</a:t>
            </a:r>
          </a:p>
          <a:p>
            <a:r>
              <a:t>2) Vagrant crea 4 VMs en una red privada. 3 arrancan, la cuarta queda apagada por defecto y la levantamos para la demo de gestion.</a:t>
            </a:r>
          </a:p>
          <a:p>
            <a:r>
              <a:t>3) Sobre las VMs corre K3s con Flannel para la red entre pods e ingress-nginx para exponer la UI.</a:t>
            </a:r>
          </a:p>
          <a:p>
            <a:r>
              <a:t>4) Arriba de todo, los 5 microservicios de The Store. ~2 min.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2.</a:t>
            </a:r>
          </a:p>
          <a:p>
            <a:r>
              <a:t>Encadenar la metafora: Vagrant pone los ladrillos (las VMs), Ansible los pinta y los conecta (configuracion), K3s es lo que vive adentro y hace funcionar la app.</a:t>
            </a:r>
          </a:p>
          <a:p>
            <a:r>
              <a:t>Mencionar que las 3 son open source, ampliamente usadas en la industria. ~1 min.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2.</a:t>
            </a:r>
          </a:p>
          <a:p>
            <a:r>
              <a:t>Subrayar: NO clickeamos en VirtualBox. Toda la topologia esta versionada en Git. Cualquiera del equipo puede recrear el entorno con un comando.</a:t>
            </a:r>
          </a:p>
          <a:p>
            <a:r>
              <a:t>La 4ta VM con autostart:false es clave para la demo de fase 11: nos permite mostrar la topologia inicial 'limpia' y luego sumar el nodo. ~1 min.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2.</a:t>
            </a:r>
          </a:p>
          <a:p>
            <a:r>
              <a:t>Recorrer rapido cada rol como un eslabon. Es clave decir que cada rol es chico y tiene una unica responsabilidad.</a:t>
            </a:r>
          </a:p>
          <a:p>
            <a:r>
              <a:t>Idempotencia: si corro el playbook 2 veces seguidas, la segunda no cambia nada (changed=0). Esto es deseable: nos protege de errores.</a:t>
            </a:r>
          </a:p>
          <a:p>
            <a:r>
              <a:t>Token de join: este es el detalle 'pulento' a mostrar. En vez de copiarlo a mano, Ansible lo lee del Control Plane y lo inyecta en los workers. Asi automatizamos el caso de uso 3. ~2 min.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2.</a:t>
            </a:r>
          </a:p>
          <a:p>
            <a:r>
              <a:t>Por que pinneamos la version: para que todos los nodos corran exactamente lo mismo. Evita 'drift'.</a:t>
            </a:r>
          </a:p>
          <a:p>
            <a:r>
              <a:t>Por que VXLAN sobre eth1: VirtualBox crea una interfaz NAT (eth0) duplicada en todas las VMs; si Flannel la elige, la red overlay rompe. Forzamos eth1 que es la red privada host-only.</a:t>
            </a:r>
          </a:p>
          <a:p>
            <a:r>
              <a:t>Por que sacamos Traefik: el manifiesto de The Store referencia explicitamente la IngressClass 'nginx'. ~1.5 min.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2.</a:t>
            </a:r>
          </a:p>
          <a:p>
            <a:r>
              <a:t>Es el diagrama mas tecnico, pero importante para los docentes.</a:t>
            </a:r>
          </a:p>
          <a:p>
            <a:r>
              <a:t>Explicar el flujo: el usuario ataca la IP del Control Plane. ingress-nginx corre con hostNetwork ahi y publica :80 directo. Toma la request, mira el header Host y la rutea al Service 'ui'. El Service es una IP virtual estable del Service CIDR; el balanceo interno de K3s la traduce a la IP real del pod en el Pod CIDR.</a:t>
            </a:r>
          </a:p>
          <a:p>
            <a:r>
              <a:t>Subrayar: ingress-nginx esta SOLO en el Control Plane para tener una puerta de entrada unica y predecible. ~2 min.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3.</a:t>
            </a:r>
          </a:p>
          <a:p>
            <a:r>
              <a:t>Tomar la palabra para mostrar el flujo end-to-end. Mensaje: no son 50 pasos, son 4 comandos. Cada uno encadena varios roles de Ansible.</a:t>
            </a:r>
          </a:p>
          <a:p>
            <a:r>
              <a:t>Que la audiencia se quede con: build -&gt; infra -&gt; config -&gt; deploy. ~1.5 min.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3.</a:t>
            </a:r>
          </a:p>
          <a:p>
            <a:r>
              <a:t>Distincion clave: que un pod este Running no significa que la app sirva. Por eso ademas tenemos un script de validacion funcional que simula una compra real recorriendo todos los servicios por el Ingress.</a:t>
            </a:r>
          </a:p>
          <a:p>
            <a:r>
              <a:t>Esto cubre el caso de uso 2 de la pre-entrega. ~1 min.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3.</a:t>
            </a:r>
          </a:p>
          <a:p>
            <a:r>
              <a:t>Es el momento mas potente del POC: probamos que el cluster se puede operar en caliente. No reinstalamos nada. Ansible lee el token del Control Plane, lo inyecta en el nodo nuevo y K3s lo une.</a:t>
            </a:r>
          </a:p>
          <a:p>
            <a:r>
              <a:t>Segundo playbook: como las imagenes son locales, hay que importarlas tambien en el nodo nuevo para evitar ImagePullBackOff cuando el scheduler ubique pods alli.</a:t>
            </a:r>
          </a:p>
          <a:p>
            <a:r>
              <a:t>Resultado: 4 nodos Ready y, tras un rollout, hay pods de carts y orders corriendo en worker-3. ~1.5 min.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tres oradores acompaniando la demo.</a:t>
            </a:r>
          </a:p>
          <a:p>
            <a:endParaRPr/>
          </a:p>
          <a:p>
            <a:r>
              <a:t>Guion sugerido:</a:t>
            </a:r>
          </a:p>
          <a:p>
            <a:r>
              <a:t>1. (cd infra &amp;&amp; vagrant status) -&gt; ven las 4 VMs.</a:t>
            </a:r>
          </a:p>
          <a:p>
            <a:r>
              <a:t>2. kubectl get nodes -o wide -&gt; ven 3 Ready (sin worker-3 todavia).</a:t>
            </a:r>
          </a:p>
          <a:p>
            <a:r>
              <a:t>3. kubectl get pods -n the-store -o wide -&gt; pods Running.</a:t>
            </a:r>
          </a:p>
          <a:p>
            <a:r>
              <a:t>4. Abrir http://localhost en navegador con el flujo de compra.</a:t>
            </a:r>
          </a:p>
          <a:p>
            <a:r>
              <a:t>5. bash scripts/validate-store.sh -&gt; validacion automatica.</a:t>
            </a:r>
          </a:p>
          <a:p>
            <a:r>
              <a:t>6. vagrant up k3s-worker-3 -&gt; levanta la VM extra.</a:t>
            </a:r>
          </a:p>
          <a:p>
            <a:r>
              <a:t>7. ansible-playbook add-worker.yml -e add_worker_target=k3s-worker-3.</a:t>
            </a:r>
          </a:p>
          <a:p>
            <a:r>
              <a:t>8. kubectl get nodes -o wide -&gt; ahora se ven los 4 Ready.</a:t>
            </a:r>
          </a:p>
          <a:p>
            <a:r>
              <a:t>9. kubectl rollout restart deployment -n the-store + get pods -o wide -&gt; se ven pods schedulados en worker-3.</a:t>
            </a:r>
          </a:p>
          <a:p>
            <a:endParaRPr/>
          </a:p>
          <a:p>
            <a:r>
              <a:t>Si algo falla en la demo, tener screenshots de respaldo. ~8-10 min.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1.</a:t>
            </a:r>
          </a:p>
          <a:p>
            <a:r>
              <a:t>Mostrar que la decision de K3s + Vagrant + Ansible fue evaluada. El criterio fue: maximizar el valor pedagogico de mostrar configuracion de SO, red y union de nodos. Por eso descartamos opciones que lo abstraen. ~1 min.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1.</a:t>
            </a:r>
          </a:p>
          <a:p>
            <a:r>
              <a:t>Decir esto de forma directa. Es buen credito academico mostrar los limites y que la implementacion respeta el contrato de la pre-entrega.</a:t>
            </a:r>
          </a:p>
          <a:p>
            <a:r>
              <a:t>Anticipar posibles preguntas: HA, autoscaling, storage, multi-cloud. Tener respuestas cortas listas. ~1 min.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Orador 2 + Orador 3 alternados.</a:t>
            </a:r>
          </a:p>
          <a:p>
            <a:r>
              <a:t>Cerrar reforzando los 5 puntos. Llamar a preguntas.</a:t>
            </a:r>
          </a:p>
          <a:p>
            <a:r>
              <a:t>Tip: dejar abierta la siguiente slide ('Preguntas') al pasarle la palabra al docente.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tres oradores disponibles.</a:t>
            </a:r>
          </a:p>
          <a:p>
            <a:r>
              <a:t>Posibles preguntas frecuentes para tener preparadas:</a:t>
            </a:r>
          </a:p>
          <a:p>
            <a:r>
              <a:t>- Por que K3s y no K8s 'full'? Por liviano, una distro certificada CNCF.</a:t>
            </a:r>
          </a:p>
          <a:p>
            <a:r>
              <a:t>- Por que VXLAN por eth1? Para que Flannel no use la NAT duplicada de VBox.</a:t>
            </a:r>
          </a:p>
          <a:p>
            <a:r>
              <a:t>- Como manejarian HA? K3s soporta multi-server con embedded etcd; queda fuera del POC.</a:t>
            </a:r>
          </a:p>
          <a:p>
            <a:r>
              <a:t>- Como pasarian a cloud? Reemplazariamos Vagrant por Terraform y los playbooks Ansible serian casi los mismos.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206240" cy="68580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0" y="0"/>
            <a:ext cx="73152" cy="6858000"/>
          </a:xfrm>
          <a:prstGeom prst="rect">
            <a:avLst/>
          </a:prstGeom>
          <a:solidFill>
            <a:srgbClr val="1A2332"/>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44500" y="635000"/>
            <a:ext cx="3429000" cy="38100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cs typeface="Calibri"/>
              </a:rPr>
              <a:t>ITBA  -  REDES DE INFORMACION</a:t>
            </a:r>
          </a:p>
        </p:txBody>
      </p:sp>
      <p:sp>
        <p:nvSpPr>
          <p:cNvPr id="5" name="TextBox 4"/>
          <p:cNvSpPr txBox="1"/>
          <p:nvPr/>
        </p:nvSpPr>
        <p:spPr>
          <a:xfrm>
            <a:off x="444500" y="6223000"/>
            <a:ext cx="3429000" cy="317500"/>
          </a:xfrm>
          <a:prstGeom prst="rect">
            <a:avLst/>
          </a:prstGeom>
          <a:noFill/>
        </p:spPr>
        <p:txBody>
          <a:bodyPr wrap="square" lIns="0" tIns="0" rIns="0" bIns="0" anchor="t">
            <a:spAutoFit/>
          </a:bodyPr>
          <a:lstStyle/>
          <a:p>
            <a:pPr algn="l">
              <a:lnSpc>
                <a:spcPct val="115000"/>
              </a:lnSpc>
            </a:pPr>
            <a:r>
              <a:rPr sz="1100">
                <a:solidFill>
                  <a:srgbClr val="DBE7F9"/>
                </a:solidFill>
                <a:latin typeface="Calibri"/>
                <a:cs typeface="Calibri"/>
              </a:rPr>
              <a:t>1er. Cuatrimestre 2026</a:t>
            </a:r>
          </a:p>
        </p:txBody>
      </p:sp>
      <p:sp>
        <p:nvSpPr>
          <p:cNvPr id="6" name="TextBox 5"/>
          <p:cNvSpPr txBox="1"/>
          <p:nvPr/>
        </p:nvSpPr>
        <p:spPr>
          <a:xfrm>
            <a:off x="4660900" y="2222500"/>
            <a:ext cx="7137400" cy="635000"/>
          </a:xfrm>
          <a:prstGeom prst="rect">
            <a:avLst/>
          </a:prstGeom>
          <a:noFill/>
        </p:spPr>
        <p:txBody>
          <a:bodyPr wrap="square" lIns="0" tIns="0" rIns="0" bIns="0" anchor="t">
            <a:spAutoFit/>
          </a:bodyPr>
          <a:lstStyle/>
          <a:p>
            <a:pPr algn="l">
              <a:lnSpc>
                <a:spcPct val="115000"/>
              </a:lnSpc>
            </a:pPr>
            <a:r>
              <a:rPr sz="3600" b="1" dirty="0" err="1">
                <a:solidFill>
                  <a:srgbClr val="1A2332"/>
                </a:solidFill>
                <a:latin typeface="Calibri"/>
                <a:cs typeface="Calibri"/>
              </a:rPr>
              <a:t>Despliegue</a:t>
            </a:r>
            <a:r>
              <a:rPr sz="3600" b="1">
                <a:solidFill>
                  <a:srgbClr val="1A2332"/>
                </a:solidFill>
                <a:latin typeface="Calibri"/>
                <a:cs typeface="Calibri"/>
              </a:rPr>
              <a:t> y gestion de un</a:t>
            </a:r>
          </a:p>
        </p:txBody>
      </p:sp>
      <p:sp>
        <p:nvSpPr>
          <p:cNvPr id="7" name="TextBox 6"/>
          <p:cNvSpPr txBox="1"/>
          <p:nvPr/>
        </p:nvSpPr>
        <p:spPr>
          <a:xfrm>
            <a:off x="4660900" y="2857500"/>
            <a:ext cx="7137400" cy="635000"/>
          </a:xfrm>
          <a:prstGeom prst="rect">
            <a:avLst/>
          </a:prstGeom>
          <a:noFill/>
        </p:spPr>
        <p:txBody>
          <a:bodyPr wrap="square" lIns="0" tIns="0" rIns="0" bIns="0" anchor="t">
            <a:spAutoFit/>
          </a:bodyPr>
          <a:lstStyle/>
          <a:p>
            <a:pPr algn="l">
              <a:lnSpc>
                <a:spcPct val="115000"/>
              </a:lnSpc>
            </a:pPr>
            <a:r>
              <a:rPr sz="3600" b="1" dirty="0">
                <a:solidFill>
                  <a:srgbClr val="326CE5"/>
                </a:solidFill>
                <a:latin typeface="Calibri"/>
                <a:cs typeface="Calibri"/>
              </a:rPr>
              <a:t>cluster de Kubernetes</a:t>
            </a:r>
          </a:p>
        </p:txBody>
      </p:sp>
      <p:sp>
        <p:nvSpPr>
          <p:cNvPr id="8" name="TextBox 7"/>
          <p:cNvSpPr txBox="1"/>
          <p:nvPr/>
        </p:nvSpPr>
        <p:spPr>
          <a:xfrm>
            <a:off x="4660900" y="3619500"/>
            <a:ext cx="7137400" cy="381000"/>
          </a:xfrm>
          <a:prstGeom prst="rect">
            <a:avLst/>
          </a:prstGeom>
          <a:noFill/>
        </p:spPr>
        <p:txBody>
          <a:bodyPr wrap="square" lIns="0" tIns="0" rIns="0" bIns="0" anchor="t">
            <a:spAutoFit/>
          </a:bodyPr>
          <a:lstStyle/>
          <a:p>
            <a:pPr algn="l">
              <a:lnSpc>
                <a:spcPct val="115000"/>
              </a:lnSpc>
            </a:pPr>
            <a:r>
              <a:rPr>
                <a:solidFill>
                  <a:srgbClr val="4A5568"/>
                </a:solidFill>
                <a:latin typeface="Calibri"/>
                <a:cs typeface="Calibri"/>
              </a:rPr>
              <a:t>POC con Vagrant + Ansible + K3s sobre VMs locales</a:t>
            </a:r>
          </a:p>
        </p:txBody>
      </p:sp>
      <p:cxnSp>
        <p:nvCxnSpPr>
          <p:cNvPr id="9" name="Connector 8"/>
          <p:cNvCxnSpPr/>
          <p:nvPr/>
        </p:nvCxnSpPr>
        <p:spPr>
          <a:xfrm>
            <a:off x="4660900" y="4254500"/>
            <a:ext cx="2540000" cy="0"/>
          </a:xfrm>
          <a:prstGeom prst="line">
            <a:avLst/>
          </a:prstGeom>
          <a:ln w="31750">
            <a:solidFill>
              <a:srgbClr val="4472C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660900" y="4508500"/>
            <a:ext cx="7137400" cy="317500"/>
          </a:xfrm>
          <a:prstGeom prst="rect">
            <a:avLst/>
          </a:prstGeom>
          <a:noFill/>
        </p:spPr>
        <p:txBody>
          <a:bodyPr wrap="square" lIns="0" tIns="0" rIns="0" bIns="0" anchor="t">
            <a:spAutoFit/>
          </a:bodyPr>
          <a:lstStyle/>
          <a:p>
            <a:pPr algn="l">
              <a:lnSpc>
                <a:spcPct val="115000"/>
              </a:lnSpc>
            </a:pPr>
            <a:r>
              <a:rPr sz="1300" b="1">
                <a:solidFill>
                  <a:srgbClr val="1A2332"/>
                </a:solidFill>
                <a:latin typeface="Calibri"/>
                <a:cs typeface="Calibri"/>
              </a:rPr>
              <a:t>Trabajo Practico Especial - Tema 6 - Grupo 12</a:t>
            </a:r>
          </a:p>
        </p:txBody>
      </p:sp>
      <p:sp>
        <p:nvSpPr>
          <p:cNvPr id="11" name="TextBox 10"/>
          <p:cNvSpPr txBox="1"/>
          <p:nvPr/>
        </p:nvSpPr>
        <p:spPr>
          <a:xfrm>
            <a:off x="4660900" y="4826000"/>
            <a:ext cx="7137400" cy="3175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[Orador 1]  -  [Orador 2]  -  [Orador 3]</a:t>
            </a:r>
          </a:p>
        </p:txBody>
      </p:sp>
      <p:sp>
        <p:nvSpPr>
          <p:cNvPr id="12" name="TextBox 11"/>
          <p:cNvSpPr txBox="1"/>
          <p:nvPr/>
        </p:nvSpPr>
        <p:spPr>
          <a:xfrm>
            <a:off x="4660900" y="6286500"/>
            <a:ext cx="7137400" cy="254000"/>
          </a:xfrm>
          <a:prstGeom prst="rect">
            <a:avLst/>
          </a:prstGeom>
          <a:noFill/>
        </p:spPr>
        <p:txBody>
          <a:bodyPr wrap="square" lIns="0" tIns="0" rIns="0" bIns="0" anchor="t">
            <a:spAutoFit/>
          </a:bodyPr>
          <a:lstStyle/>
          <a:p>
            <a:pPr algn="l">
              <a:lnSpc>
                <a:spcPct val="115000"/>
              </a:lnSpc>
            </a:pPr>
            <a:r>
              <a:rPr sz="1100">
                <a:solidFill>
                  <a:srgbClr val="94A3B8"/>
                </a:solidFill>
                <a:latin typeface="Calibri"/>
                <a:cs typeface="Calibri"/>
              </a:rP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AGENDA</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De que vamos a hablar</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1</a:t>
            </a:r>
          </a:p>
        </p:txBody>
      </p:sp>
      <p:sp>
        <p:nvSpPr>
          <p:cNvPr id="7" name="Rounded Rectangle 6"/>
          <p:cNvSpPr/>
          <p:nvPr/>
        </p:nvSpPr>
        <p:spPr>
          <a:xfrm>
            <a:off x="546100" y="1714500"/>
            <a:ext cx="609600" cy="6096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000" b="1">
                <a:solidFill>
                  <a:srgbClr val="FFFFFF"/>
                </a:solidFill>
                <a:latin typeface="Calibri"/>
                <a:cs typeface="Calibri"/>
              </a:rPr>
              <a:t>01</a:t>
            </a:r>
          </a:p>
        </p:txBody>
      </p:sp>
      <p:sp>
        <p:nvSpPr>
          <p:cNvPr id="8" name="TextBox 7"/>
          <p:cNvSpPr txBox="1"/>
          <p:nvPr/>
        </p:nvSpPr>
        <p:spPr>
          <a:xfrm>
            <a:off x="1397000" y="1739900"/>
            <a:ext cx="10160000" cy="3556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Problematica</a:t>
            </a:r>
          </a:p>
        </p:txBody>
      </p:sp>
      <p:sp>
        <p:nvSpPr>
          <p:cNvPr id="9" name="TextBox 8"/>
          <p:cNvSpPr txBox="1"/>
          <p:nvPr/>
        </p:nvSpPr>
        <p:spPr>
          <a:xfrm>
            <a:off x="1397000" y="2095500"/>
            <a:ext cx="10160000" cy="304800"/>
          </a:xfrm>
          <a:prstGeom prst="rect">
            <a:avLst/>
          </a:prstGeom>
          <a:noFill/>
        </p:spPr>
        <p:txBody>
          <a:bodyPr wrap="square" lIns="0" tIns="0" rIns="0" bIns="0" anchor="t">
            <a:spAutoFit/>
          </a:bodyPr>
          <a:lstStyle/>
          <a:p>
            <a:pPr algn="l">
              <a:lnSpc>
                <a:spcPct val="115000"/>
              </a:lnSpc>
            </a:pPr>
            <a:r>
              <a:rPr sz="1400">
                <a:solidFill>
                  <a:srgbClr val="4A5568"/>
                </a:solidFill>
                <a:latin typeface="Calibri"/>
                <a:cs typeface="Calibri"/>
              </a:rPr>
              <a:t>Microservicios, contenedores y por que un cluster</a:t>
            </a:r>
          </a:p>
        </p:txBody>
      </p:sp>
      <p:sp>
        <p:nvSpPr>
          <p:cNvPr id="10" name="Rounded Rectangle 9"/>
          <p:cNvSpPr/>
          <p:nvPr/>
        </p:nvSpPr>
        <p:spPr>
          <a:xfrm>
            <a:off x="546100" y="2628900"/>
            <a:ext cx="609600" cy="6096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000" b="1">
                <a:solidFill>
                  <a:srgbClr val="FFFFFF"/>
                </a:solidFill>
                <a:latin typeface="Calibri"/>
                <a:cs typeface="Calibri"/>
              </a:rPr>
              <a:t>02</a:t>
            </a:r>
          </a:p>
        </p:txBody>
      </p:sp>
      <p:sp>
        <p:nvSpPr>
          <p:cNvPr id="11" name="TextBox 10"/>
          <p:cNvSpPr txBox="1"/>
          <p:nvPr/>
        </p:nvSpPr>
        <p:spPr>
          <a:xfrm>
            <a:off x="1397000" y="2654300"/>
            <a:ext cx="10160000" cy="3556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Solucion propuesta</a:t>
            </a:r>
          </a:p>
        </p:txBody>
      </p:sp>
      <p:sp>
        <p:nvSpPr>
          <p:cNvPr id="12" name="TextBox 11"/>
          <p:cNvSpPr txBox="1"/>
          <p:nvPr/>
        </p:nvSpPr>
        <p:spPr>
          <a:xfrm>
            <a:off x="1397000" y="3009900"/>
            <a:ext cx="10160000" cy="304800"/>
          </a:xfrm>
          <a:prstGeom prst="rect">
            <a:avLst/>
          </a:prstGeom>
          <a:noFill/>
        </p:spPr>
        <p:txBody>
          <a:bodyPr wrap="square" lIns="0" tIns="0" rIns="0" bIns="0" anchor="t">
            <a:spAutoFit/>
          </a:bodyPr>
          <a:lstStyle/>
          <a:p>
            <a:pPr algn="l">
              <a:lnSpc>
                <a:spcPct val="115000"/>
              </a:lnSpc>
            </a:pPr>
            <a:r>
              <a:rPr sz="1400">
                <a:solidFill>
                  <a:srgbClr val="4A5568"/>
                </a:solidFill>
                <a:latin typeface="Calibri"/>
                <a:cs typeface="Calibri"/>
              </a:rPr>
              <a:t>Arquitectura del POC y casos de uso</a:t>
            </a:r>
          </a:p>
        </p:txBody>
      </p:sp>
      <p:sp>
        <p:nvSpPr>
          <p:cNvPr id="13" name="Rounded Rectangle 12"/>
          <p:cNvSpPr/>
          <p:nvPr/>
        </p:nvSpPr>
        <p:spPr>
          <a:xfrm>
            <a:off x="546100" y="3543300"/>
            <a:ext cx="609600" cy="6096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000" b="1">
                <a:solidFill>
                  <a:srgbClr val="FFFFFF"/>
                </a:solidFill>
                <a:latin typeface="Calibri"/>
                <a:cs typeface="Calibri"/>
              </a:rPr>
              <a:t>03</a:t>
            </a:r>
          </a:p>
        </p:txBody>
      </p:sp>
      <p:sp>
        <p:nvSpPr>
          <p:cNvPr id="14" name="TextBox 13"/>
          <p:cNvSpPr txBox="1"/>
          <p:nvPr/>
        </p:nvSpPr>
        <p:spPr>
          <a:xfrm>
            <a:off x="1397000" y="3568700"/>
            <a:ext cx="10160000" cy="3556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Tecnologias</a:t>
            </a:r>
          </a:p>
        </p:txBody>
      </p:sp>
      <p:sp>
        <p:nvSpPr>
          <p:cNvPr id="15" name="TextBox 14"/>
          <p:cNvSpPr txBox="1"/>
          <p:nvPr/>
        </p:nvSpPr>
        <p:spPr>
          <a:xfrm>
            <a:off x="1397000" y="3924300"/>
            <a:ext cx="10160000" cy="304800"/>
          </a:xfrm>
          <a:prstGeom prst="rect">
            <a:avLst/>
          </a:prstGeom>
          <a:noFill/>
        </p:spPr>
        <p:txBody>
          <a:bodyPr wrap="square" lIns="0" tIns="0" rIns="0" bIns="0" anchor="t">
            <a:spAutoFit/>
          </a:bodyPr>
          <a:lstStyle/>
          <a:p>
            <a:pPr algn="l">
              <a:lnSpc>
                <a:spcPct val="115000"/>
              </a:lnSpc>
            </a:pPr>
            <a:r>
              <a:rPr sz="1400">
                <a:solidFill>
                  <a:srgbClr val="4A5568"/>
                </a:solidFill>
                <a:latin typeface="Calibri"/>
                <a:cs typeface="Calibri"/>
              </a:rPr>
              <a:t>Vagrant, Ansible, K3s, Flannel, ingress-nginx</a:t>
            </a:r>
          </a:p>
        </p:txBody>
      </p:sp>
      <p:sp>
        <p:nvSpPr>
          <p:cNvPr id="16" name="Rounded Rectangle 15"/>
          <p:cNvSpPr/>
          <p:nvPr/>
        </p:nvSpPr>
        <p:spPr>
          <a:xfrm>
            <a:off x="546100" y="4457700"/>
            <a:ext cx="609600" cy="6096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000" b="1">
                <a:solidFill>
                  <a:srgbClr val="FFFFFF"/>
                </a:solidFill>
                <a:latin typeface="Calibri"/>
                <a:cs typeface="Calibri"/>
              </a:rPr>
              <a:t>04</a:t>
            </a:r>
          </a:p>
        </p:txBody>
      </p:sp>
      <p:sp>
        <p:nvSpPr>
          <p:cNvPr id="17" name="TextBox 16"/>
          <p:cNvSpPr txBox="1"/>
          <p:nvPr/>
        </p:nvSpPr>
        <p:spPr>
          <a:xfrm>
            <a:off x="1397000" y="4483100"/>
            <a:ext cx="10160000" cy="3556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Demo en vivo</a:t>
            </a:r>
          </a:p>
        </p:txBody>
      </p:sp>
      <p:sp>
        <p:nvSpPr>
          <p:cNvPr id="18" name="TextBox 17"/>
          <p:cNvSpPr txBox="1"/>
          <p:nvPr/>
        </p:nvSpPr>
        <p:spPr>
          <a:xfrm>
            <a:off x="1397000" y="4838700"/>
            <a:ext cx="10160000" cy="304800"/>
          </a:xfrm>
          <a:prstGeom prst="rect">
            <a:avLst/>
          </a:prstGeom>
          <a:noFill/>
        </p:spPr>
        <p:txBody>
          <a:bodyPr wrap="square" lIns="0" tIns="0" rIns="0" bIns="0" anchor="t">
            <a:spAutoFit/>
          </a:bodyPr>
          <a:lstStyle/>
          <a:p>
            <a:pPr algn="l">
              <a:lnSpc>
                <a:spcPct val="115000"/>
              </a:lnSpc>
            </a:pPr>
            <a:r>
              <a:rPr sz="1400">
                <a:solidFill>
                  <a:srgbClr val="4A5568"/>
                </a:solidFill>
                <a:latin typeface="Calibri"/>
                <a:cs typeface="Calibri"/>
              </a:rPr>
              <a:t>Cluster, app, agregar un worker</a:t>
            </a:r>
          </a:p>
        </p:txBody>
      </p:sp>
      <p:sp>
        <p:nvSpPr>
          <p:cNvPr id="19" name="Rounded Rectangle 18"/>
          <p:cNvSpPr/>
          <p:nvPr/>
        </p:nvSpPr>
        <p:spPr>
          <a:xfrm>
            <a:off x="546100" y="5372100"/>
            <a:ext cx="609600" cy="6096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000" b="1">
                <a:solidFill>
                  <a:srgbClr val="FFFFFF"/>
                </a:solidFill>
                <a:latin typeface="Calibri"/>
                <a:cs typeface="Calibri"/>
              </a:rPr>
              <a:t>05</a:t>
            </a:r>
          </a:p>
        </p:txBody>
      </p:sp>
      <p:sp>
        <p:nvSpPr>
          <p:cNvPr id="20" name="TextBox 19"/>
          <p:cNvSpPr txBox="1"/>
          <p:nvPr/>
        </p:nvSpPr>
        <p:spPr>
          <a:xfrm>
            <a:off x="1397000" y="5397500"/>
            <a:ext cx="10160000" cy="3556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Cierre</a:t>
            </a:r>
          </a:p>
        </p:txBody>
      </p:sp>
      <p:sp>
        <p:nvSpPr>
          <p:cNvPr id="21" name="TextBox 20"/>
          <p:cNvSpPr txBox="1"/>
          <p:nvPr/>
        </p:nvSpPr>
        <p:spPr>
          <a:xfrm>
            <a:off x="1397000" y="5753100"/>
            <a:ext cx="10160000" cy="304800"/>
          </a:xfrm>
          <a:prstGeom prst="rect">
            <a:avLst/>
          </a:prstGeom>
          <a:noFill/>
        </p:spPr>
        <p:txBody>
          <a:bodyPr wrap="square" lIns="0" tIns="0" rIns="0" bIns="0" anchor="t">
            <a:spAutoFit/>
          </a:bodyPr>
          <a:lstStyle/>
          <a:p>
            <a:pPr algn="l">
              <a:lnSpc>
                <a:spcPct val="115000"/>
              </a:lnSpc>
            </a:pPr>
            <a:r>
              <a:rPr sz="1400">
                <a:solidFill>
                  <a:srgbClr val="4A5568"/>
                </a:solidFill>
                <a:latin typeface="Calibri"/>
                <a:cs typeface="Calibri"/>
              </a:rPr>
              <a:t>Limites, alternativas y aprendizajes</a:t>
            </a:r>
          </a:p>
        </p:txBody>
      </p:sp>
      <p:sp>
        <p:nvSpPr>
          <p:cNvPr id="22" name="TextBox 21"/>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23" name="TextBox 22"/>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2 / 21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PROBLEMATICA</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Punto de partida: The Store</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1</a:t>
            </a:r>
          </a:p>
        </p:txBody>
      </p:sp>
      <p:sp>
        <p:nvSpPr>
          <p:cNvPr id="7" name="TextBox 6"/>
          <p:cNvSpPr txBox="1"/>
          <p:nvPr/>
        </p:nvSpPr>
        <p:spPr>
          <a:xfrm>
            <a:off x="546100" y="1651000"/>
            <a:ext cx="5969000" cy="3810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Una tienda online real</a:t>
            </a:r>
          </a:p>
        </p:txBody>
      </p:sp>
      <p:sp>
        <p:nvSpPr>
          <p:cNvPr id="8" name="TextBox 7"/>
          <p:cNvSpPr txBox="1"/>
          <p:nvPr/>
        </p:nvSpPr>
        <p:spPr>
          <a:xfrm>
            <a:off x="546100" y="2159000"/>
            <a:ext cx="5969000" cy="2667000"/>
          </a:xfrm>
          <a:prstGeom prst="rect">
            <a:avLst/>
          </a:prstGeom>
          <a:noFill/>
        </p:spPr>
        <p:txBody>
          <a:bodyPr wrap="square" lIns="0" tIns="0" rIns="0" bIns="0">
            <a:spAutoFit/>
          </a:bodyPr>
          <a:lstStyle/>
          <a:p>
            <a:pPr algn="l">
              <a:lnSpc>
                <a:spcPct val="130000"/>
              </a:lnSpc>
              <a:spcAft>
                <a:spcPts val="800"/>
              </a:spcAft>
            </a:pPr>
            <a:r>
              <a:rPr sz="1500">
                <a:solidFill>
                  <a:srgbClr val="4A5568"/>
                </a:solidFill>
                <a:latin typeface="Calibri"/>
                <a:cs typeface="Calibri"/>
              </a:rPr>
              <a:t>■  5 piezas que cooperan: UI, Catalogo, Carrito, Checkout, Ordenes</a:t>
            </a:r>
          </a:p>
          <a:p>
            <a:pPr algn="l">
              <a:lnSpc>
                <a:spcPct val="130000"/>
              </a:lnSpc>
              <a:spcAft>
                <a:spcPts val="800"/>
              </a:spcAft>
            </a:pPr>
            <a:r>
              <a:rPr sz="1500">
                <a:solidFill>
                  <a:srgbClr val="4A5568"/>
                </a:solidFill>
                <a:latin typeface="Calibri"/>
                <a:cs typeface="Calibri"/>
              </a:rPr>
              <a:t>■  Cada pieza es un servicio independiente, escrito en su propio lenguaje</a:t>
            </a:r>
          </a:p>
          <a:p>
            <a:pPr algn="l">
              <a:lnSpc>
                <a:spcPct val="130000"/>
              </a:lnSpc>
              <a:spcAft>
                <a:spcPts val="800"/>
              </a:spcAft>
            </a:pPr>
            <a:r>
              <a:rPr sz="1500">
                <a:solidFill>
                  <a:srgbClr val="4A5568"/>
                </a:solidFill>
                <a:latin typeface="Calibri"/>
                <a:cs typeface="Calibri"/>
              </a:rPr>
              <a:t>■  Se comunican por la red, no comparten memoria</a:t>
            </a:r>
          </a:p>
          <a:p>
            <a:pPr algn="l">
              <a:lnSpc>
                <a:spcPct val="130000"/>
              </a:lnSpc>
              <a:spcAft>
                <a:spcPts val="800"/>
              </a:spcAft>
            </a:pPr>
            <a:r>
              <a:rPr sz="1500">
                <a:solidFill>
                  <a:srgbClr val="4A5568"/>
                </a:solidFill>
                <a:latin typeface="Calibri"/>
                <a:cs typeface="Calibri"/>
              </a:rPr>
              <a:t>■  Cada una se despliega y escala por separado</a:t>
            </a:r>
          </a:p>
        </p:txBody>
      </p:sp>
      <p:sp>
        <p:nvSpPr>
          <p:cNvPr id="9" name="TextBox 8"/>
          <p:cNvSpPr txBox="1"/>
          <p:nvPr/>
        </p:nvSpPr>
        <p:spPr>
          <a:xfrm>
            <a:off x="546100" y="5016500"/>
            <a:ext cx="5969000" cy="508000"/>
          </a:xfrm>
          <a:prstGeom prst="rect">
            <a:avLst/>
          </a:prstGeom>
          <a:noFill/>
        </p:spPr>
        <p:txBody>
          <a:bodyPr wrap="square" lIns="0" tIns="0" rIns="0" bIns="0" anchor="t">
            <a:spAutoFit/>
          </a:bodyPr>
          <a:lstStyle/>
          <a:p>
            <a:pPr algn="l">
              <a:lnSpc>
                <a:spcPct val="115000"/>
              </a:lnSpc>
            </a:pPr>
            <a:r>
              <a:rPr sz="1600" b="1">
                <a:solidFill>
                  <a:srgbClr val="326CE5"/>
                </a:solidFill>
                <a:latin typeface="Calibri"/>
                <a:cs typeface="Calibri"/>
              </a:rPr>
              <a:t>A esta arquitectura se la llama microservicios.</a:t>
            </a:r>
          </a:p>
        </p:txBody>
      </p:sp>
      <p:sp>
        <p:nvSpPr>
          <p:cNvPr id="10" name="TextBox 9"/>
          <p:cNvSpPr txBox="1"/>
          <p:nvPr/>
        </p:nvSpPr>
        <p:spPr>
          <a:xfrm>
            <a:off x="546100" y="5524500"/>
            <a:ext cx="5969000" cy="635000"/>
          </a:xfrm>
          <a:prstGeom prst="rect">
            <a:avLst/>
          </a:prstGeom>
          <a:noFill/>
        </p:spPr>
        <p:txBody>
          <a:bodyPr wrap="square" lIns="0" tIns="0" rIns="0" bIns="0" anchor="t">
            <a:spAutoFit/>
          </a:bodyPr>
          <a:lstStyle/>
          <a:p>
            <a:pPr algn="l">
              <a:lnSpc>
                <a:spcPct val="115000"/>
              </a:lnSpc>
            </a:pPr>
            <a:r>
              <a:rPr sz="1400" i="1">
                <a:solidFill>
                  <a:srgbClr val="4A5568"/>
                </a:solidFill>
                <a:latin typeface="Calibri"/>
                <a:cs typeface="Calibri"/>
              </a:rPr>
              <a:t>Es flexible y resiliente, pero requiere coordinar muchas piezas.</a:t>
            </a:r>
          </a:p>
        </p:txBody>
      </p:sp>
      <p:pic>
        <p:nvPicPr>
          <p:cNvPr id="11" name="Picture 10" descr="architecture.png"/>
          <p:cNvPicPr>
            <a:picLocks noChangeAspect="1"/>
          </p:cNvPicPr>
          <p:nvPr/>
        </p:nvPicPr>
        <p:blipFill>
          <a:blip r:embed="rId3"/>
          <a:stretch>
            <a:fillRect/>
          </a:stretch>
        </p:blipFill>
        <p:spPr>
          <a:xfrm>
            <a:off x="6794500" y="1841500"/>
            <a:ext cx="4826000" cy="4318000"/>
          </a:xfrm>
          <a:prstGeom prst="rect">
            <a:avLst/>
          </a:prstGeom>
        </p:spPr>
      </p:pic>
      <p:sp>
        <p:nvSpPr>
          <p:cNvPr id="12" name="TextBox 11"/>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13" name="TextBox 12"/>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3 / 21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PROBLEMATICA</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Pieza 1: contenedores</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1</a:t>
            </a:r>
          </a:p>
        </p:txBody>
      </p:sp>
      <p:sp>
        <p:nvSpPr>
          <p:cNvPr id="7" name="TextBox 6"/>
          <p:cNvSpPr txBox="1"/>
          <p:nvPr/>
        </p:nvSpPr>
        <p:spPr>
          <a:xfrm>
            <a:off x="546100" y="1651000"/>
            <a:ext cx="11150600" cy="3810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Un contenedor empaqueta un servicio con todo lo que necesita</a:t>
            </a:r>
          </a:p>
        </p:txBody>
      </p:sp>
      <p:sp>
        <p:nvSpPr>
          <p:cNvPr id="8" name="Rounded Rectangle 7"/>
          <p:cNvSpPr/>
          <p:nvPr/>
        </p:nvSpPr>
        <p:spPr>
          <a:xfrm>
            <a:off x="546100" y="2222500"/>
            <a:ext cx="3556000" cy="5588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600" b="1">
                <a:solidFill>
                  <a:srgbClr val="FFFFFF"/>
                </a:solidFill>
                <a:latin typeface="Calibri"/>
                <a:cs typeface="Calibri"/>
              </a:rPr>
              <a:t>Codigo</a:t>
            </a:r>
          </a:p>
        </p:txBody>
      </p:sp>
      <p:sp>
        <p:nvSpPr>
          <p:cNvPr id="9" name="Rectangle 8"/>
          <p:cNvSpPr/>
          <p:nvPr/>
        </p:nvSpPr>
        <p:spPr>
          <a:xfrm>
            <a:off x="546100" y="2781300"/>
            <a:ext cx="3556000" cy="2921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3900" y="2984500"/>
            <a:ext cx="3200400" cy="2514600"/>
          </a:xfrm>
          <a:prstGeom prst="rect">
            <a:avLst/>
          </a:prstGeom>
          <a:noFill/>
        </p:spPr>
        <p:txBody>
          <a:bodyPr wrap="square" lIns="0" tIns="0" rIns="0" bIns="0" anchor="t">
            <a:spAutoFit/>
          </a:bodyPr>
          <a:lstStyle/>
          <a:p>
            <a:pPr algn="l">
              <a:lnSpc>
                <a:spcPct val="115000"/>
              </a:lnSpc>
            </a:pPr>
            <a:r>
              <a:rPr sz="1400">
                <a:solidFill>
                  <a:srgbClr val="4A5568"/>
                </a:solidFill>
                <a:latin typeface="Calibri"/>
                <a:cs typeface="Calibri"/>
              </a:rPr>
              <a:t>El programa de la UI, del catalogo, del carrito...</a:t>
            </a:r>
          </a:p>
        </p:txBody>
      </p:sp>
      <p:sp>
        <p:nvSpPr>
          <p:cNvPr id="11" name="Rounded Rectangle 10"/>
          <p:cNvSpPr/>
          <p:nvPr/>
        </p:nvSpPr>
        <p:spPr>
          <a:xfrm>
            <a:off x="4254500" y="2222500"/>
            <a:ext cx="3556000" cy="5588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600" b="1">
                <a:solidFill>
                  <a:srgbClr val="FFFFFF"/>
                </a:solidFill>
                <a:latin typeface="Calibri"/>
                <a:cs typeface="Calibri"/>
              </a:rPr>
              <a:t>Dependencias</a:t>
            </a:r>
          </a:p>
        </p:txBody>
      </p:sp>
      <p:sp>
        <p:nvSpPr>
          <p:cNvPr id="12" name="Rectangle 11"/>
          <p:cNvSpPr/>
          <p:nvPr/>
        </p:nvSpPr>
        <p:spPr>
          <a:xfrm>
            <a:off x="4254500" y="2781300"/>
            <a:ext cx="3556000" cy="2921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32300" y="2984500"/>
            <a:ext cx="3200400" cy="2514600"/>
          </a:xfrm>
          <a:prstGeom prst="rect">
            <a:avLst/>
          </a:prstGeom>
          <a:noFill/>
        </p:spPr>
        <p:txBody>
          <a:bodyPr wrap="square" lIns="0" tIns="0" rIns="0" bIns="0" anchor="t">
            <a:spAutoFit/>
          </a:bodyPr>
          <a:lstStyle/>
          <a:p>
            <a:pPr algn="l">
              <a:lnSpc>
                <a:spcPct val="115000"/>
              </a:lnSpc>
            </a:pPr>
            <a:r>
              <a:rPr sz="1400">
                <a:solidFill>
                  <a:srgbClr val="4A5568"/>
                </a:solidFill>
                <a:latin typeface="Calibri"/>
                <a:cs typeface="Calibri"/>
              </a:rPr>
              <a:t>Librerias, versiones, runtime de Java/Go/Node, sin pisar al host</a:t>
            </a:r>
          </a:p>
        </p:txBody>
      </p:sp>
      <p:sp>
        <p:nvSpPr>
          <p:cNvPr id="14" name="Rounded Rectangle 13"/>
          <p:cNvSpPr/>
          <p:nvPr/>
        </p:nvSpPr>
        <p:spPr>
          <a:xfrm>
            <a:off x="7962900" y="2222500"/>
            <a:ext cx="3556000" cy="5588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600" b="1">
                <a:solidFill>
                  <a:srgbClr val="FFFFFF"/>
                </a:solidFill>
                <a:latin typeface="Calibri"/>
                <a:cs typeface="Calibri"/>
              </a:rPr>
              <a:t>Aislamiento</a:t>
            </a:r>
          </a:p>
        </p:txBody>
      </p:sp>
      <p:sp>
        <p:nvSpPr>
          <p:cNvPr id="15" name="Rectangle 14"/>
          <p:cNvSpPr/>
          <p:nvPr/>
        </p:nvSpPr>
        <p:spPr>
          <a:xfrm>
            <a:off x="7962900" y="2781300"/>
            <a:ext cx="3556000" cy="2921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40700" y="2984500"/>
            <a:ext cx="3200400" cy="2514600"/>
          </a:xfrm>
          <a:prstGeom prst="rect">
            <a:avLst/>
          </a:prstGeom>
          <a:noFill/>
        </p:spPr>
        <p:txBody>
          <a:bodyPr wrap="square" lIns="0" tIns="0" rIns="0" bIns="0" anchor="t">
            <a:spAutoFit/>
          </a:bodyPr>
          <a:lstStyle/>
          <a:p>
            <a:pPr algn="l">
              <a:lnSpc>
                <a:spcPct val="115000"/>
              </a:lnSpc>
            </a:pPr>
            <a:r>
              <a:rPr sz="1400">
                <a:solidFill>
                  <a:srgbClr val="4A5568"/>
                </a:solidFill>
                <a:latin typeface="Calibri"/>
                <a:cs typeface="Calibri"/>
              </a:rPr>
              <a:t>Procesos, red y archivos separados de otros contenedores</a:t>
            </a:r>
          </a:p>
        </p:txBody>
      </p:sp>
      <p:sp>
        <p:nvSpPr>
          <p:cNvPr id="17" name="TextBox 16"/>
          <p:cNvSpPr txBox="1"/>
          <p:nvPr/>
        </p:nvSpPr>
        <p:spPr>
          <a:xfrm>
            <a:off x="546100" y="5880100"/>
            <a:ext cx="11150600" cy="330200"/>
          </a:xfrm>
          <a:prstGeom prst="rect">
            <a:avLst/>
          </a:prstGeom>
          <a:noFill/>
        </p:spPr>
        <p:txBody>
          <a:bodyPr wrap="square" lIns="0" tIns="0" rIns="0" bIns="0" anchor="t">
            <a:spAutoFit/>
          </a:bodyPr>
          <a:lstStyle/>
          <a:p>
            <a:pPr algn="ctr">
              <a:lnSpc>
                <a:spcPct val="115000"/>
              </a:lnSpc>
            </a:pPr>
            <a:r>
              <a:rPr sz="1500" b="1" i="1">
                <a:solidFill>
                  <a:srgbClr val="326CE5"/>
                </a:solidFill>
                <a:latin typeface="Calibri"/>
                <a:cs typeface="Calibri"/>
              </a:rPr>
              <a:t>Idea clave: 'si corre en mi maquina' deja de ser un problema.</a:t>
            </a:r>
          </a:p>
        </p:txBody>
      </p:sp>
      <p:sp>
        <p:nvSpPr>
          <p:cNvPr id="18" name="TextBox 17"/>
          <p:cNvSpPr txBox="1"/>
          <p:nvPr/>
        </p:nvSpPr>
        <p:spPr>
          <a:xfrm>
            <a:off x="546100" y="6121400"/>
            <a:ext cx="11150600" cy="254000"/>
          </a:xfrm>
          <a:prstGeom prst="rect">
            <a:avLst/>
          </a:prstGeom>
          <a:noFill/>
        </p:spPr>
        <p:txBody>
          <a:bodyPr wrap="square" lIns="0" tIns="0" rIns="0" bIns="0" anchor="t">
            <a:spAutoFit/>
          </a:bodyPr>
          <a:lstStyle/>
          <a:p>
            <a:pPr algn="ctr">
              <a:lnSpc>
                <a:spcPct val="115000"/>
              </a:lnSpc>
            </a:pPr>
            <a:r>
              <a:rPr sz="1200" i="1">
                <a:solidFill>
                  <a:srgbClr val="4A5568"/>
                </a:solidFill>
                <a:latin typeface="Calibri"/>
                <a:cs typeface="Calibri"/>
              </a:rPr>
              <a:t>La imagen del contenedor es la misma en desarrollo, prueba y produccion.</a:t>
            </a:r>
          </a:p>
        </p:txBody>
      </p:sp>
      <p:sp>
        <p:nvSpPr>
          <p:cNvPr id="19" name="TextBox 18"/>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20" name="TextBox 19"/>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4 / 21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PROBLEMATICA</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Pieza 2: orquestar los contenedores</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1</a:t>
            </a:r>
          </a:p>
        </p:txBody>
      </p:sp>
      <p:sp>
        <p:nvSpPr>
          <p:cNvPr id="7" name="TextBox 6"/>
          <p:cNvSpPr txBox="1"/>
          <p:nvPr/>
        </p:nvSpPr>
        <p:spPr>
          <a:xfrm>
            <a:off x="546100" y="1651000"/>
            <a:ext cx="11150600" cy="3810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Tener contenedores no alcanza. Alguien tiene que coordinarlos.</a:t>
            </a:r>
          </a:p>
        </p:txBody>
      </p:sp>
      <p:sp>
        <p:nvSpPr>
          <p:cNvPr id="8" name="Rectangle 7"/>
          <p:cNvSpPr/>
          <p:nvPr/>
        </p:nvSpPr>
        <p:spPr>
          <a:xfrm>
            <a:off x="546100" y="2260600"/>
            <a:ext cx="5397500" cy="558800"/>
          </a:xfrm>
          <a:prstGeom prst="rect">
            <a:avLst/>
          </a:prstGeom>
          <a:solidFill>
            <a:srgbClr val="94A3B8"/>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6100" y="2387600"/>
            <a:ext cx="5397500" cy="355600"/>
          </a:xfrm>
          <a:prstGeom prst="rect">
            <a:avLst/>
          </a:prstGeom>
          <a:noFill/>
        </p:spPr>
        <p:txBody>
          <a:bodyPr wrap="square" lIns="0" tIns="0" rIns="0" bIns="0" anchor="ctr" anchorCtr="0">
            <a:spAutoFit/>
          </a:bodyPr>
          <a:lstStyle/>
          <a:p>
            <a:pPr algn="ctr">
              <a:lnSpc>
                <a:spcPct val="115000"/>
              </a:lnSpc>
            </a:pPr>
            <a:r>
              <a:rPr sz="1600" b="1">
                <a:solidFill>
                  <a:srgbClr val="FFFFFF"/>
                </a:solidFill>
                <a:latin typeface="Calibri"/>
                <a:cs typeface="Calibri"/>
              </a:rPr>
              <a:t>Sin orquestador</a:t>
            </a:r>
          </a:p>
        </p:txBody>
      </p:sp>
      <p:sp>
        <p:nvSpPr>
          <p:cNvPr id="10" name="Rectangle 9"/>
          <p:cNvSpPr/>
          <p:nvPr/>
        </p:nvSpPr>
        <p:spPr>
          <a:xfrm>
            <a:off x="546100" y="2819400"/>
            <a:ext cx="5397500" cy="2921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3900" y="2984500"/>
            <a:ext cx="5041900" cy="2667000"/>
          </a:xfrm>
          <a:prstGeom prst="rect">
            <a:avLst/>
          </a:prstGeom>
          <a:noFill/>
        </p:spPr>
        <p:txBody>
          <a:bodyPr wrap="square" lIns="0" tIns="0" rIns="0" bIns="0">
            <a:spAutoFit/>
          </a:bodyPr>
          <a:lstStyle/>
          <a:p>
            <a:pPr algn="l">
              <a:lnSpc>
                <a:spcPct val="125000"/>
              </a:lnSpc>
              <a:spcAft>
                <a:spcPts val="800"/>
              </a:spcAft>
            </a:pPr>
            <a:r>
              <a:rPr sz="1400">
                <a:solidFill>
                  <a:srgbClr val="4A5568"/>
                </a:solidFill>
                <a:latin typeface="Calibri"/>
                <a:cs typeface="Calibri"/>
              </a:rPr>
              <a:t>■  Hay que decirle a cada server que arrancar</a:t>
            </a:r>
          </a:p>
          <a:p>
            <a:pPr algn="l">
              <a:lnSpc>
                <a:spcPct val="125000"/>
              </a:lnSpc>
              <a:spcAft>
                <a:spcPts val="800"/>
              </a:spcAft>
            </a:pPr>
            <a:r>
              <a:rPr sz="1400">
                <a:solidFill>
                  <a:srgbClr val="4A5568"/>
                </a:solidFill>
                <a:latin typeface="Calibri"/>
                <a:cs typeface="Calibri"/>
              </a:rPr>
              <a:t>■  Si un contenedor muere, alguien lo levanta a mano</a:t>
            </a:r>
          </a:p>
          <a:p>
            <a:pPr algn="l">
              <a:lnSpc>
                <a:spcPct val="125000"/>
              </a:lnSpc>
              <a:spcAft>
                <a:spcPts val="800"/>
              </a:spcAft>
            </a:pPr>
            <a:r>
              <a:rPr sz="1400">
                <a:solidFill>
                  <a:srgbClr val="4A5568"/>
                </a:solidFill>
                <a:latin typeface="Calibri"/>
                <a:cs typeface="Calibri"/>
              </a:rPr>
              <a:t>■  Si hay que escalar, scripts a mano</a:t>
            </a:r>
          </a:p>
          <a:p>
            <a:pPr algn="l">
              <a:lnSpc>
                <a:spcPct val="125000"/>
              </a:lnSpc>
              <a:spcAft>
                <a:spcPts val="800"/>
              </a:spcAft>
            </a:pPr>
            <a:r>
              <a:rPr sz="1400">
                <a:solidFill>
                  <a:srgbClr val="4A5568"/>
                </a:solidFill>
                <a:latin typeface="Calibri"/>
                <a:cs typeface="Calibri"/>
              </a:rPr>
              <a:t>■  Las direcciones IP cambian y rompen llamadas</a:t>
            </a:r>
          </a:p>
          <a:p>
            <a:pPr algn="l">
              <a:lnSpc>
                <a:spcPct val="125000"/>
              </a:lnSpc>
              <a:spcAft>
                <a:spcPts val="800"/>
              </a:spcAft>
            </a:pPr>
            <a:r>
              <a:rPr sz="1400">
                <a:solidFill>
                  <a:srgbClr val="4A5568"/>
                </a:solidFill>
                <a:latin typeface="Calibri"/>
                <a:cs typeface="Calibri"/>
              </a:rPr>
              <a:t>■  Operacion fragil y no reproducible</a:t>
            </a:r>
          </a:p>
        </p:txBody>
      </p:sp>
      <p:sp>
        <p:nvSpPr>
          <p:cNvPr id="12" name="Rectangle 11"/>
          <p:cNvSpPr/>
          <p:nvPr/>
        </p:nvSpPr>
        <p:spPr>
          <a:xfrm>
            <a:off x="6261100" y="2260600"/>
            <a:ext cx="5397500" cy="5588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1100" y="2387600"/>
            <a:ext cx="5397500" cy="355600"/>
          </a:xfrm>
          <a:prstGeom prst="rect">
            <a:avLst/>
          </a:prstGeom>
          <a:noFill/>
        </p:spPr>
        <p:txBody>
          <a:bodyPr wrap="square" lIns="0" tIns="0" rIns="0" bIns="0" anchor="ctr" anchorCtr="0">
            <a:spAutoFit/>
          </a:bodyPr>
          <a:lstStyle/>
          <a:p>
            <a:pPr algn="ctr">
              <a:lnSpc>
                <a:spcPct val="115000"/>
              </a:lnSpc>
            </a:pPr>
            <a:r>
              <a:rPr sz="1600" b="1">
                <a:solidFill>
                  <a:srgbClr val="FFFFFF"/>
                </a:solidFill>
                <a:latin typeface="Calibri"/>
                <a:cs typeface="Calibri"/>
              </a:rPr>
              <a:t>Con Kubernetes</a:t>
            </a:r>
          </a:p>
        </p:txBody>
      </p:sp>
      <p:sp>
        <p:nvSpPr>
          <p:cNvPr id="14" name="Rectangle 13"/>
          <p:cNvSpPr/>
          <p:nvPr/>
        </p:nvSpPr>
        <p:spPr>
          <a:xfrm>
            <a:off x="6261100" y="2819400"/>
            <a:ext cx="5397500" cy="2921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38900" y="2984500"/>
            <a:ext cx="5041900" cy="2667000"/>
          </a:xfrm>
          <a:prstGeom prst="rect">
            <a:avLst/>
          </a:prstGeom>
          <a:noFill/>
        </p:spPr>
        <p:txBody>
          <a:bodyPr wrap="square" lIns="0" tIns="0" rIns="0" bIns="0">
            <a:spAutoFit/>
          </a:bodyPr>
          <a:lstStyle/>
          <a:p>
            <a:pPr algn="l">
              <a:lnSpc>
                <a:spcPct val="125000"/>
              </a:lnSpc>
              <a:spcAft>
                <a:spcPts val="800"/>
              </a:spcAft>
            </a:pPr>
            <a:r>
              <a:rPr sz="1400">
                <a:solidFill>
                  <a:srgbClr val="4A5568"/>
                </a:solidFill>
                <a:latin typeface="Calibri"/>
                <a:cs typeface="Calibri"/>
              </a:rPr>
              <a:t>■  Le decis QUE queres correr (3 replicas de la UI)</a:t>
            </a:r>
          </a:p>
          <a:p>
            <a:pPr algn="l">
              <a:lnSpc>
                <a:spcPct val="125000"/>
              </a:lnSpc>
              <a:spcAft>
                <a:spcPts val="800"/>
              </a:spcAft>
            </a:pPr>
            <a:r>
              <a:rPr sz="1400">
                <a:solidFill>
                  <a:srgbClr val="4A5568"/>
                </a:solidFill>
                <a:latin typeface="Calibri"/>
                <a:cs typeface="Calibri"/>
              </a:rPr>
              <a:t>■  El se encarga de DONDE y COMO</a:t>
            </a:r>
          </a:p>
          <a:p>
            <a:pPr algn="l">
              <a:lnSpc>
                <a:spcPct val="125000"/>
              </a:lnSpc>
              <a:spcAft>
                <a:spcPts val="800"/>
              </a:spcAft>
            </a:pPr>
            <a:r>
              <a:rPr sz="1400">
                <a:solidFill>
                  <a:srgbClr val="4A5568"/>
                </a:solidFill>
                <a:latin typeface="Calibri"/>
                <a:cs typeface="Calibri"/>
              </a:rPr>
              <a:t>■  Reinicia, reubica y reemplaza solo</a:t>
            </a:r>
          </a:p>
          <a:p>
            <a:pPr algn="l">
              <a:lnSpc>
                <a:spcPct val="125000"/>
              </a:lnSpc>
              <a:spcAft>
                <a:spcPts val="800"/>
              </a:spcAft>
            </a:pPr>
            <a:r>
              <a:rPr sz="1400">
                <a:solidFill>
                  <a:srgbClr val="4A5568"/>
                </a:solidFill>
                <a:latin typeface="Calibri"/>
                <a:cs typeface="Calibri"/>
              </a:rPr>
              <a:t>■  Servicios virtuales con nombres estables</a:t>
            </a:r>
          </a:p>
          <a:p>
            <a:pPr algn="l">
              <a:lnSpc>
                <a:spcPct val="125000"/>
              </a:lnSpc>
              <a:spcAft>
                <a:spcPts val="800"/>
              </a:spcAft>
            </a:pPr>
            <a:r>
              <a:rPr sz="1400">
                <a:solidFill>
                  <a:srgbClr val="4A5568"/>
                </a:solidFill>
                <a:latin typeface="Calibri"/>
                <a:cs typeface="Calibri"/>
              </a:rPr>
              <a:t>■  Es la base estandar de operacion moderna</a:t>
            </a:r>
          </a:p>
        </p:txBody>
      </p:sp>
      <p:sp>
        <p:nvSpPr>
          <p:cNvPr id="16" name="TextBox 15"/>
          <p:cNvSpPr txBox="1"/>
          <p:nvPr/>
        </p:nvSpPr>
        <p:spPr>
          <a:xfrm>
            <a:off x="546100" y="5969000"/>
            <a:ext cx="11150600" cy="381000"/>
          </a:xfrm>
          <a:prstGeom prst="rect">
            <a:avLst/>
          </a:prstGeom>
          <a:noFill/>
        </p:spPr>
        <p:txBody>
          <a:bodyPr wrap="square" lIns="0" tIns="0" rIns="0" bIns="0" anchor="t">
            <a:spAutoFit/>
          </a:bodyPr>
          <a:lstStyle/>
          <a:p>
            <a:pPr algn="ctr">
              <a:lnSpc>
                <a:spcPct val="115000"/>
              </a:lnSpc>
            </a:pPr>
            <a:r>
              <a:rPr sz="1600" b="1" i="1">
                <a:solidFill>
                  <a:srgbClr val="326CE5"/>
                </a:solidFill>
                <a:latin typeface="Calibri"/>
                <a:cs typeface="Calibri"/>
              </a:rPr>
              <a:t>Kubernetes = el director de orquesta de los contenedores.</a:t>
            </a:r>
          </a:p>
        </p:txBody>
      </p:sp>
      <p:sp>
        <p:nvSpPr>
          <p:cNvPr id="17" name="TextBox 16"/>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18" name="TextBox 17"/>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5 / 21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PROBLEMATICA</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El problema real: armar el cluster</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1</a:t>
            </a:r>
          </a:p>
        </p:txBody>
      </p:sp>
      <p:sp>
        <p:nvSpPr>
          <p:cNvPr id="7" name="TextBox 6"/>
          <p:cNvSpPr txBox="1"/>
          <p:nvPr/>
        </p:nvSpPr>
        <p:spPr>
          <a:xfrm>
            <a:off x="546100" y="1625600"/>
            <a:ext cx="11150600" cy="3302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Kubernetes resuelve el problema operativo, pero alguien lo tiene que instalar.</a:t>
            </a:r>
          </a:p>
        </p:txBody>
      </p:sp>
      <p:sp>
        <p:nvSpPr>
          <p:cNvPr id="8" name="Rectangle 7"/>
          <p:cNvSpPr/>
          <p:nvPr/>
        </p:nvSpPr>
        <p:spPr>
          <a:xfrm>
            <a:off x="546100" y="2120900"/>
            <a:ext cx="3619500" cy="1841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6100" y="2120900"/>
            <a:ext cx="63500" cy="1841500"/>
          </a:xfrm>
          <a:prstGeom prst="rect">
            <a:avLst/>
          </a:prstGeom>
          <a:solidFill>
            <a:srgbClr val="EF4444"/>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4700" y="2298700"/>
            <a:ext cx="3238500" cy="3302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Red mal configurada</a:t>
            </a:r>
          </a:p>
        </p:txBody>
      </p:sp>
      <p:sp>
        <p:nvSpPr>
          <p:cNvPr id="11" name="TextBox 10"/>
          <p:cNvSpPr txBox="1"/>
          <p:nvPr/>
        </p:nvSpPr>
        <p:spPr>
          <a:xfrm>
            <a:off x="774700" y="2654300"/>
            <a:ext cx="3238500" cy="1130300"/>
          </a:xfrm>
          <a:prstGeom prst="rect">
            <a:avLst/>
          </a:prstGeom>
          <a:noFill/>
        </p:spPr>
        <p:txBody>
          <a:bodyPr wrap="square" lIns="0" tIns="0" rIns="0" bIns="0" anchor="t">
            <a:spAutoFit/>
          </a:bodyPr>
          <a:lstStyle/>
          <a:p>
            <a:pPr algn="l">
              <a:lnSpc>
                <a:spcPct val="115000"/>
              </a:lnSpc>
            </a:pPr>
            <a:r>
              <a:rPr sz="1200">
                <a:solidFill>
                  <a:srgbClr val="4A5568"/>
                </a:solidFill>
                <a:latin typeface="Calibri"/>
                <a:cs typeface="Calibri"/>
              </a:rPr>
              <a:t>VXLAN por la interfaz incorrecta y los nodos no se ven</a:t>
            </a:r>
          </a:p>
        </p:txBody>
      </p:sp>
      <p:sp>
        <p:nvSpPr>
          <p:cNvPr id="12" name="Rectangle 11"/>
          <p:cNvSpPr/>
          <p:nvPr/>
        </p:nvSpPr>
        <p:spPr>
          <a:xfrm>
            <a:off x="4318000" y="2120900"/>
            <a:ext cx="3619500" cy="1841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8000" y="2120900"/>
            <a:ext cx="63500" cy="1841500"/>
          </a:xfrm>
          <a:prstGeom prst="rect">
            <a:avLst/>
          </a:prstGeom>
          <a:solidFill>
            <a:srgbClr val="EF4444"/>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6600" y="2298700"/>
            <a:ext cx="3238500" cy="3302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Puertos cerrados</a:t>
            </a:r>
          </a:p>
        </p:txBody>
      </p:sp>
      <p:sp>
        <p:nvSpPr>
          <p:cNvPr id="15" name="TextBox 14"/>
          <p:cNvSpPr txBox="1"/>
          <p:nvPr/>
        </p:nvSpPr>
        <p:spPr>
          <a:xfrm>
            <a:off x="4546600" y="2654300"/>
            <a:ext cx="3238500" cy="1130300"/>
          </a:xfrm>
          <a:prstGeom prst="rect">
            <a:avLst/>
          </a:prstGeom>
          <a:noFill/>
        </p:spPr>
        <p:txBody>
          <a:bodyPr wrap="square" lIns="0" tIns="0" rIns="0" bIns="0" anchor="t">
            <a:spAutoFit/>
          </a:bodyPr>
          <a:lstStyle/>
          <a:p>
            <a:pPr algn="l">
              <a:lnSpc>
                <a:spcPct val="115000"/>
              </a:lnSpc>
            </a:pPr>
            <a:r>
              <a:rPr sz="1200">
                <a:solidFill>
                  <a:srgbClr val="4A5568"/>
                </a:solidFill>
                <a:latin typeface="Calibri"/>
                <a:cs typeface="Calibri"/>
              </a:rPr>
              <a:t>El firewall bloquea API server, Flannel o el Ingress</a:t>
            </a:r>
          </a:p>
        </p:txBody>
      </p:sp>
      <p:sp>
        <p:nvSpPr>
          <p:cNvPr id="16" name="Rectangle 15"/>
          <p:cNvSpPr/>
          <p:nvPr/>
        </p:nvSpPr>
        <p:spPr>
          <a:xfrm>
            <a:off x="8089900" y="2120900"/>
            <a:ext cx="3619500" cy="1841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89900" y="2120900"/>
            <a:ext cx="63500" cy="1841500"/>
          </a:xfrm>
          <a:prstGeom prst="rect">
            <a:avLst/>
          </a:prstGeom>
          <a:solidFill>
            <a:srgbClr val="EF4444"/>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18500" y="2298700"/>
            <a:ext cx="3238500" cy="3302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Token de union</a:t>
            </a:r>
          </a:p>
        </p:txBody>
      </p:sp>
      <p:sp>
        <p:nvSpPr>
          <p:cNvPr id="19" name="TextBox 18"/>
          <p:cNvSpPr txBox="1"/>
          <p:nvPr/>
        </p:nvSpPr>
        <p:spPr>
          <a:xfrm>
            <a:off x="8318500" y="2654300"/>
            <a:ext cx="3238500" cy="1130300"/>
          </a:xfrm>
          <a:prstGeom prst="rect">
            <a:avLst/>
          </a:prstGeom>
          <a:noFill/>
        </p:spPr>
        <p:txBody>
          <a:bodyPr wrap="square" lIns="0" tIns="0" rIns="0" bIns="0" anchor="t">
            <a:spAutoFit/>
          </a:bodyPr>
          <a:lstStyle/>
          <a:p>
            <a:pPr algn="l">
              <a:lnSpc>
                <a:spcPct val="115000"/>
              </a:lnSpc>
            </a:pPr>
            <a:r>
              <a:rPr sz="1200">
                <a:solidFill>
                  <a:srgbClr val="4A5568"/>
                </a:solidFill>
                <a:latin typeface="Calibri"/>
                <a:cs typeface="Calibri"/>
              </a:rPr>
              <a:t>Hay que copiarlo a mano de un nodo a otro</a:t>
            </a:r>
          </a:p>
        </p:txBody>
      </p:sp>
      <p:sp>
        <p:nvSpPr>
          <p:cNvPr id="20" name="Rectangle 19"/>
          <p:cNvSpPr/>
          <p:nvPr/>
        </p:nvSpPr>
        <p:spPr>
          <a:xfrm>
            <a:off x="546100" y="4114800"/>
            <a:ext cx="3619500" cy="1841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6100" y="4114800"/>
            <a:ext cx="63500" cy="1841500"/>
          </a:xfrm>
          <a:prstGeom prst="rect">
            <a:avLst/>
          </a:prstGeom>
          <a:solidFill>
            <a:srgbClr val="EF4444"/>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4700" y="4292600"/>
            <a:ext cx="3238500" cy="3302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Versiones distintas</a:t>
            </a:r>
          </a:p>
        </p:txBody>
      </p:sp>
      <p:sp>
        <p:nvSpPr>
          <p:cNvPr id="23" name="TextBox 22"/>
          <p:cNvSpPr txBox="1"/>
          <p:nvPr/>
        </p:nvSpPr>
        <p:spPr>
          <a:xfrm>
            <a:off x="774700" y="4648200"/>
            <a:ext cx="3238500" cy="1130300"/>
          </a:xfrm>
          <a:prstGeom prst="rect">
            <a:avLst/>
          </a:prstGeom>
          <a:noFill/>
        </p:spPr>
        <p:txBody>
          <a:bodyPr wrap="square" lIns="0" tIns="0" rIns="0" bIns="0" anchor="t">
            <a:spAutoFit/>
          </a:bodyPr>
          <a:lstStyle/>
          <a:p>
            <a:pPr algn="l">
              <a:lnSpc>
                <a:spcPct val="115000"/>
              </a:lnSpc>
            </a:pPr>
            <a:r>
              <a:rPr sz="1200">
                <a:solidFill>
                  <a:srgbClr val="4A5568"/>
                </a:solidFill>
                <a:latin typeface="Calibri"/>
                <a:cs typeface="Calibri"/>
              </a:rPr>
              <a:t>Cada nodo termina con una version diferente de K8s</a:t>
            </a:r>
          </a:p>
        </p:txBody>
      </p:sp>
      <p:sp>
        <p:nvSpPr>
          <p:cNvPr id="24" name="Rectangle 23"/>
          <p:cNvSpPr/>
          <p:nvPr/>
        </p:nvSpPr>
        <p:spPr>
          <a:xfrm>
            <a:off x="4318000" y="4114800"/>
            <a:ext cx="3619500" cy="1841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18000" y="4114800"/>
            <a:ext cx="63500" cy="1841500"/>
          </a:xfrm>
          <a:prstGeom prst="rect">
            <a:avLst/>
          </a:prstGeom>
          <a:solidFill>
            <a:srgbClr val="EF4444"/>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46600" y="4292600"/>
            <a:ext cx="3238500" cy="3302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Sin trazabilidad</a:t>
            </a:r>
          </a:p>
        </p:txBody>
      </p:sp>
      <p:sp>
        <p:nvSpPr>
          <p:cNvPr id="27" name="TextBox 26"/>
          <p:cNvSpPr txBox="1"/>
          <p:nvPr/>
        </p:nvSpPr>
        <p:spPr>
          <a:xfrm>
            <a:off x="4546600" y="4648200"/>
            <a:ext cx="3238500" cy="1130300"/>
          </a:xfrm>
          <a:prstGeom prst="rect">
            <a:avLst/>
          </a:prstGeom>
          <a:noFill/>
        </p:spPr>
        <p:txBody>
          <a:bodyPr wrap="square" lIns="0" tIns="0" rIns="0" bIns="0" anchor="t">
            <a:spAutoFit/>
          </a:bodyPr>
          <a:lstStyle/>
          <a:p>
            <a:pPr algn="l">
              <a:lnSpc>
                <a:spcPct val="115000"/>
              </a:lnSpc>
            </a:pPr>
            <a:r>
              <a:rPr sz="1200">
                <a:solidFill>
                  <a:srgbClr val="4A5568"/>
                </a:solidFill>
                <a:latin typeface="Calibri"/>
                <a:cs typeface="Calibri"/>
              </a:rPr>
              <a:t>Nadie sabe que cambio en cada nodo ni en que orden</a:t>
            </a:r>
          </a:p>
        </p:txBody>
      </p:sp>
      <p:sp>
        <p:nvSpPr>
          <p:cNvPr id="28" name="Rectangle 27"/>
          <p:cNvSpPr/>
          <p:nvPr/>
        </p:nvSpPr>
        <p:spPr>
          <a:xfrm>
            <a:off x="8089900" y="4114800"/>
            <a:ext cx="3619500" cy="1841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089900" y="4114800"/>
            <a:ext cx="63500" cy="1841500"/>
          </a:xfrm>
          <a:prstGeom prst="rect">
            <a:avLst/>
          </a:prstGeom>
          <a:solidFill>
            <a:srgbClr val="EF4444"/>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18500" y="4292600"/>
            <a:ext cx="3238500" cy="3302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Imposible repetir</a:t>
            </a:r>
          </a:p>
        </p:txBody>
      </p:sp>
      <p:sp>
        <p:nvSpPr>
          <p:cNvPr id="31" name="TextBox 30"/>
          <p:cNvSpPr txBox="1"/>
          <p:nvPr/>
        </p:nvSpPr>
        <p:spPr>
          <a:xfrm>
            <a:off x="8318500" y="4648200"/>
            <a:ext cx="3238500" cy="1130300"/>
          </a:xfrm>
          <a:prstGeom prst="rect">
            <a:avLst/>
          </a:prstGeom>
          <a:noFill/>
        </p:spPr>
        <p:txBody>
          <a:bodyPr wrap="square" lIns="0" tIns="0" rIns="0" bIns="0" anchor="t">
            <a:spAutoFit/>
          </a:bodyPr>
          <a:lstStyle/>
          <a:p>
            <a:pPr algn="l">
              <a:lnSpc>
                <a:spcPct val="115000"/>
              </a:lnSpc>
            </a:pPr>
            <a:r>
              <a:rPr sz="1200">
                <a:solidFill>
                  <a:srgbClr val="4A5568"/>
                </a:solidFill>
                <a:latin typeface="Calibri"/>
                <a:cs typeface="Calibri"/>
              </a:rPr>
              <a:t>Si se rompe, hay que volver a hacer todo a mano</a:t>
            </a:r>
          </a:p>
        </p:txBody>
      </p:sp>
      <p:sp>
        <p:nvSpPr>
          <p:cNvPr id="32" name="TextBox 31"/>
          <p:cNvSpPr txBox="1"/>
          <p:nvPr/>
        </p:nvSpPr>
        <p:spPr>
          <a:xfrm>
            <a:off x="546100" y="6121400"/>
            <a:ext cx="11150600" cy="304800"/>
          </a:xfrm>
          <a:prstGeom prst="rect">
            <a:avLst/>
          </a:prstGeom>
          <a:noFill/>
        </p:spPr>
        <p:txBody>
          <a:bodyPr wrap="square" lIns="0" tIns="0" rIns="0" bIns="0" anchor="t">
            <a:spAutoFit/>
          </a:bodyPr>
          <a:lstStyle/>
          <a:p>
            <a:pPr algn="ctr">
              <a:lnSpc>
                <a:spcPct val="115000"/>
              </a:lnSpc>
            </a:pPr>
            <a:r>
              <a:rPr sz="1300" b="1" i="1">
                <a:solidFill>
                  <a:srgbClr val="326CE5"/>
                </a:solidFill>
                <a:latin typeface="Calibri"/>
                <a:cs typeface="Calibri"/>
              </a:rPr>
              <a:t>Hacerlo a mano = errores silenciosos, demos que no se repiten y deuda operativa.</a:t>
            </a:r>
          </a:p>
        </p:txBody>
      </p:sp>
      <p:sp>
        <p:nvSpPr>
          <p:cNvPr id="33" name="TextBox 32"/>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34" name="TextBox 33"/>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6 / 21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SOLUCION</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Nuestra propuesta</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2</a:t>
            </a:r>
          </a:p>
        </p:txBody>
      </p:sp>
      <p:sp>
        <p:nvSpPr>
          <p:cNvPr id="7" name="Rounded Rectangle 6"/>
          <p:cNvSpPr/>
          <p:nvPr/>
        </p:nvSpPr>
        <p:spPr>
          <a:xfrm>
            <a:off x="546100" y="1651000"/>
            <a:ext cx="11150600" cy="12700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600">
                <a:solidFill>
                  <a:srgbClr val="1A2332"/>
                </a:solidFill>
                <a:latin typeface="Calibri"/>
                <a:cs typeface="Calibri"/>
              </a:rPr>
              <a:t>Automatizar la creacion, configuracion y gestion de un
cluster K3s multi-nodo local, reproducible y auditable.</a:t>
            </a:r>
          </a:p>
        </p:txBody>
      </p:sp>
      <p:sp>
        <p:nvSpPr>
          <p:cNvPr id="8" name="TextBox 7"/>
          <p:cNvSpPr txBox="1"/>
          <p:nvPr/>
        </p:nvSpPr>
        <p:spPr>
          <a:xfrm>
            <a:off x="546100" y="3175000"/>
            <a:ext cx="11150600" cy="3810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Tres casos de uso a cubrir</a:t>
            </a:r>
          </a:p>
        </p:txBody>
      </p:sp>
      <p:sp>
        <p:nvSpPr>
          <p:cNvPr id="9" name="Rectangle 8"/>
          <p:cNvSpPr/>
          <p:nvPr/>
        </p:nvSpPr>
        <p:spPr>
          <a:xfrm>
            <a:off x="546100" y="3746500"/>
            <a:ext cx="3619500" cy="2603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6100" y="3746500"/>
            <a:ext cx="3619500" cy="508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300" y="3949700"/>
            <a:ext cx="3213100" cy="330200"/>
          </a:xfrm>
          <a:prstGeom prst="rect">
            <a:avLst/>
          </a:prstGeom>
          <a:noFill/>
        </p:spPr>
        <p:txBody>
          <a:bodyPr wrap="square" lIns="0" tIns="0" rIns="0" bIns="0" anchor="t">
            <a:spAutoFit/>
          </a:bodyPr>
          <a:lstStyle/>
          <a:p>
            <a:pPr algn="l">
              <a:lnSpc>
                <a:spcPct val="115000"/>
              </a:lnSpc>
            </a:pPr>
            <a:r>
              <a:rPr sz="1400" b="1">
                <a:solidFill>
                  <a:srgbClr val="326CE5"/>
                </a:solidFill>
                <a:latin typeface="Calibri"/>
                <a:cs typeface="Calibri"/>
              </a:rPr>
              <a:t>01</a:t>
            </a:r>
          </a:p>
        </p:txBody>
      </p:sp>
      <p:sp>
        <p:nvSpPr>
          <p:cNvPr id="12" name="TextBox 11"/>
          <p:cNvSpPr txBox="1"/>
          <p:nvPr/>
        </p:nvSpPr>
        <p:spPr>
          <a:xfrm>
            <a:off x="749300" y="4381500"/>
            <a:ext cx="3213100" cy="762000"/>
          </a:xfrm>
          <a:prstGeom prst="rect">
            <a:avLst/>
          </a:prstGeom>
          <a:noFill/>
        </p:spPr>
        <p:txBody>
          <a:bodyPr wrap="square" lIns="0" tIns="0" rIns="0" bIns="0" anchor="t">
            <a:spAutoFit/>
          </a:bodyPr>
          <a:lstStyle/>
          <a:p>
            <a:pPr algn="l">
              <a:lnSpc>
                <a:spcPct val="115000"/>
              </a:lnSpc>
            </a:pPr>
            <a:r>
              <a:rPr sz="2000" b="1">
                <a:solidFill>
                  <a:srgbClr val="1A2332"/>
                </a:solidFill>
                <a:latin typeface="Calibri"/>
                <a:cs typeface="Calibri"/>
              </a:rPr>
              <a:t>Zero to Kube</a:t>
            </a:r>
          </a:p>
        </p:txBody>
      </p:sp>
      <p:sp>
        <p:nvSpPr>
          <p:cNvPr id="13" name="TextBox 12"/>
          <p:cNvSpPr txBox="1"/>
          <p:nvPr/>
        </p:nvSpPr>
        <p:spPr>
          <a:xfrm>
            <a:off x="749300" y="5270500"/>
            <a:ext cx="3213100" cy="8890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Un comando levanta las VMs y deja el cluster Ready</a:t>
            </a:r>
          </a:p>
        </p:txBody>
      </p:sp>
      <p:sp>
        <p:nvSpPr>
          <p:cNvPr id="14" name="Rectangle 13"/>
          <p:cNvSpPr/>
          <p:nvPr/>
        </p:nvSpPr>
        <p:spPr>
          <a:xfrm>
            <a:off x="4318000" y="3746500"/>
            <a:ext cx="3619500" cy="2603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18000" y="3746500"/>
            <a:ext cx="3619500" cy="508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21200" y="3949700"/>
            <a:ext cx="3213100" cy="330200"/>
          </a:xfrm>
          <a:prstGeom prst="rect">
            <a:avLst/>
          </a:prstGeom>
          <a:noFill/>
        </p:spPr>
        <p:txBody>
          <a:bodyPr wrap="square" lIns="0" tIns="0" rIns="0" bIns="0" anchor="t">
            <a:spAutoFit/>
          </a:bodyPr>
          <a:lstStyle/>
          <a:p>
            <a:pPr algn="l">
              <a:lnSpc>
                <a:spcPct val="115000"/>
              </a:lnSpc>
            </a:pPr>
            <a:r>
              <a:rPr sz="1400" b="1">
                <a:solidFill>
                  <a:srgbClr val="326CE5"/>
                </a:solidFill>
                <a:latin typeface="Calibri"/>
                <a:cs typeface="Calibri"/>
              </a:rPr>
              <a:t>02</a:t>
            </a:r>
          </a:p>
        </p:txBody>
      </p:sp>
      <p:sp>
        <p:nvSpPr>
          <p:cNvPr id="17" name="TextBox 16"/>
          <p:cNvSpPr txBox="1"/>
          <p:nvPr/>
        </p:nvSpPr>
        <p:spPr>
          <a:xfrm>
            <a:off x="4521200" y="4381500"/>
            <a:ext cx="3213100" cy="762000"/>
          </a:xfrm>
          <a:prstGeom prst="rect">
            <a:avLst/>
          </a:prstGeom>
          <a:noFill/>
        </p:spPr>
        <p:txBody>
          <a:bodyPr wrap="square" lIns="0" tIns="0" rIns="0" bIns="0" anchor="t">
            <a:spAutoFit/>
          </a:bodyPr>
          <a:lstStyle/>
          <a:p>
            <a:pPr algn="l">
              <a:lnSpc>
                <a:spcPct val="115000"/>
              </a:lnSpc>
            </a:pPr>
            <a:r>
              <a:rPr sz="2000" b="1">
                <a:solidFill>
                  <a:srgbClr val="1A2332"/>
                </a:solidFill>
                <a:latin typeface="Calibri"/>
                <a:cs typeface="Calibri"/>
              </a:rPr>
              <a:t>Desplegar The Store</a:t>
            </a:r>
          </a:p>
        </p:txBody>
      </p:sp>
      <p:sp>
        <p:nvSpPr>
          <p:cNvPr id="18" name="TextBox 17"/>
          <p:cNvSpPr txBox="1"/>
          <p:nvPr/>
        </p:nvSpPr>
        <p:spPr>
          <a:xfrm>
            <a:off x="4521200" y="5270500"/>
            <a:ext cx="3213100" cy="8890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La app corre, los servicios se ven y el Ingress responde</a:t>
            </a:r>
          </a:p>
        </p:txBody>
      </p:sp>
      <p:sp>
        <p:nvSpPr>
          <p:cNvPr id="19" name="Rectangle 18"/>
          <p:cNvSpPr/>
          <p:nvPr/>
        </p:nvSpPr>
        <p:spPr>
          <a:xfrm>
            <a:off x="8089900" y="3746500"/>
            <a:ext cx="3619500" cy="2603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89900" y="3746500"/>
            <a:ext cx="3619500" cy="508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93100" y="3949700"/>
            <a:ext cx="3213100" cy="330200"/>
          </a:xfrm>
          <a:prstGeom prst="rect">
            <a:avLst/>
          </a:prstGeom>
          <a:noFill/>
        </p:spPr>
        <p:txBody>
          <a:bodyPr wrap="square" lIns="0" tIns="0" rIns="0" bIns="0" anchor="t">
            <a:spAutoFit/>
          </a:bodyPr>
          <a:lstStyle/>
          <a:p>
            <a:pPr algn="l">
              <a:lnSpc>
                <a:spcPct val="115000"/>
              </a:lnSpc>
            </a:pPr>
            <a:r>
              <a:rPr sz="1400" b="1">
                <a:solidFill>
                  <a:srgbClr val="326CE5"/>
                </a:solidFill>
                <a:latin typeface="Calibri"/>
                <a:cs typeface="Calibri"/>
              </a:rPr>
              <a:t>03</a:t>
            </a:r>
          </a:p>
        </p:txBody>
      </p:sp>
      <p:sp>
        <p:nvSpPr>
          <p:cNvPr id="22" name="TextBox 21"/>
          <p:cNvSpPr txBox="1"/>
          <p:nvPr/>
        </p:nvSpPr>
        <p:spPr>
          <a:xfrm>
            <a:off x="8293100" y="4381500"/>
            <a:ext cx="3213100" cy="762000"/>
          </a:xfrm>
          <a:prstGeom prst="rect">
            <a:avLst/>
          </a:prstGeom>
          <a:noFill/>
        </p:spPr>
        <p:txBody>
          <a:bodyPr wrap="square" lIns="0" tIns="0" rIns="0" bIns="0" anchor="t">
            <a:spAutoFit/>
          </a:bodyPr>
          <a:lstStyle/>
          <a:p>
            <a:pPr algn="l">
              <a:lnSpc>
                <a:spcPct val="115000"/>
              </a:lnSpc>
            </a:pPr>
            <a:r>
              <a:rPr sz="2000" b="1">
                <a:solidFill>
                  <a:srgbClr val="1A2332"/>
                </a:solidFill>
                <a:latin typeface="Calibri"/>
                <a:cs typeface="Calibri"/>
              </a:rPr>
              <a:t>Agregar un Worker</a:t>
            </a:r>
          </a:p>
        </p:txBody>
      </p:sp>
      <p:sp>
        <p:nvSpPr>
          <p:cNvPr id="23" name="TextBox 22"/>
          <p:cNvSpPr txBox="1"/>
          <p:nvPr/>
        </p:nvSpPr>
        <p:spPr>
          <a:xfrm>
            <a:off x="8293100" y="5270500"/>
            <a:ext cx="3213100" cy="8890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Sumamos un nodo nuevo sin reinstalar nada</a:t>
            </a:r>
          </a:p>
        </p:txBody>
      </p:sp>
      <p:sp>
        <p:nvSpPr>
          <p:cNvPr id="24" name="TextBox 23"/>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25" name="TextBox 24"/>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7 / 21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SOLUCION</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Arquitectura del POC</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2</a:t>
            </a:r>
          </a:p>
        </p:txBody>
      </p:sp>
      <p:sp>
        <p:nvSpPr>
          <p:cNvPr id="7" name="Rounded Rectangle 6"/>
          <p:cNvSpPr/>
          <p:nvPr/>
        </p:nvSpPr>
        <p:spPr>
          <a:xfrm>
            <a:off x="546100" y="1651000"/>
            <a:ext cx="11150600" cy="4826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300" b="1">
                <a:solidFill>
                  <a:srgbClr val="1A2332"/>
                </a:solidFill>
                <a:latin typeface="Calibri"/>
                <a:cs typeface="Calibri"/>
              </a:rPr>
              <a:t>Host (laptop)  -  Vagrant + Ansible + kubectl</a:t>
            </a:r>
          </a:p>
        </p:txBody>
      </p:sp>
      <p:sp>
        <p:nvSpPr>
          <p:cNvPr id="8" name="Rounded Rectangle 7"/>
          <p:cNvSpPr/>
          <p:nvPr/>
        </p:nvSpPr>
        <p:spPr>
          <a:xfrm>
            <a:off x="546100" y="2222500"/>
            <a:ext cx="11150600" cy="355600"/>
          </a:xfrm>
          <a:prstGeom prst="round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200" i="1">
                <a:solidFill>
                  <a:srgbClr val="4A5568"/>
                </a:solidFill>
                <a:latin typeface="Calibri"/>
                <a:cs typeface="Calibri"/>
              </a:rPr>
              <a:t>4 VMs Ubuntu Server 24.04 LTS en red privada 192.168.56.0/24</a:t>
            </a:r>
          </a:p>
        </p:txBody>
      </p:sp>
      <p:sp>
        <p:nvSpPr>
          <p:cNvPr id="9" name="Rectangle 8"/>
          <p:cNvSpPr/>
          <p:nvPr/>
        </p:nvSpPr>
        <p:spPr>
          <a:xfrm>
            <a:off x="546100" y="2730500"/>
            <a:ext cx="2667000" cy="1651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6100" y="2730500"/>
            <a:ext cx="2667000" cy="635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8500" y="2933700"/>
            <a:ext cx="2362200" cy="330200"/>
          </a:xfrm>
          <a:prstGeom prst="rect">
            <a:avLst/>
          </a:prstGeom>
          <a:noFill/>
        </p:spPr>
        <p:txBody>
          <a:bodyPr wrap="square" lIns="0" tIns="0" rIns="0" bIns="0" anchor="t">
            <a:spAutoFit/>
          </a:bodyPr>
          <a:lstStyle/>
          <a:p>
            <a:pPr algn="ctr">
              <a:lnSpc>
                <a:spcPct val="115000"/>
              </a:lnSpc>
            </a:pPr>
            <a:r>
              <a:rPr sz="1600" b="1">
                <a:solidFill>
                  <a:srgbClr val="1A2332"/>
                </a:solidFill>
                <a:latin typeface="Consolas"/>
                <a:cs typeface="Consolas"/>
              </a:rPr>
              <a:t>k3s-control</a:t>
            </a:r>
          </a:p>
        </p:txBody>
      </p:sp>
      <p:sp>
        <p:nvSpPr>
          <p:cNvPr id="12" name="TextBox 11"/>
          <p:cNvSpPr txBox="1"/>
          <p:nvPr/>
        </p:nvSpPr>
        <p:spPr>
          <a:xfrm>
            <a:off x="698500" y="3340100"/>
            <a:ext cx="2362200" cy="330200"/>
          </a:xfrm>
          <a:prstGeom prst="rect">
            <a:avLst/>
          </a:prstGeom>
          <a:noFill/>
        </p:spPr>
        <p:txBody>
          <a:bodyPr wrap="square" lIns="0" tIns="0" rIns="0" bIns="0" anchor="t">
            <a:spAutoFit/>
          </a:bodyPr>
          <a:lstStyle/>
          <a:p>
            <a:pPr algn="ctr">
              <a:lnSpc>
                <a:spcPct val="115000"/>
              </a:lnSpc>
            </a:pPr>
            <a:r>
              <a:rPr sz="1300" b="1">
                <a:solidFill>
                  <a:srgbClr val="326CE5"/>
                </a:solidFill>
                <a:latin typeface="Calibri"/>
                <a:cs typeface="Calibri"/>
              </a:rPr>
              <a:t>Control Plane</a:t>
            </a:r>
          </a:p>
        </p:txBody>
      </p:sp>
      <p:sp>
        <p:nvSpPr>
          <p:cNvPr id="13" name="TextBox 12"/>
          <p:cNvSpPr txBox="1"/>
          <p:nvPr/>
        </p:nvSpPr>
        <p:spPr>
          <a:xfrm>
            <a:off x="698500" y="3746500"/>
            <a:ext cx="2362200" cy="304800"/>
          </a:xfrm>
          <a:prstGeom prst="rect">
            <a:avLst/>
          </a:prstGeom>
          <a:noFill/>
        </p:spPr>
        <p:txBody>
          <a:bodyPr wrap="square" lIns="0" tIns="0" rIns="0" bIns="0" anchor="t">
            <a:spAutoFit/>
          </a:bodyPr>
          <a:lstStyle/>
          <a:p>
            <a:pPr algn="ctr">
              <a:lnSpc>
                <a:spcPct val="115000"/>
              </a:lnSpc>
            </a:pPr>
            <a:r>
              <a:rPr sz="1200">
                <a:solidFill>
                  <a:srgbClr val="4A5568"/>
                </a:solidFill>
                <a:latin typeface="Consolas"/>
                <a:cs typeface="Consolas"/>
              </a:rPr>
              <a:t>192.168.56.10</a:t>
            </a:r>
          </a:p>
        </p:txBody>
      </p:sp>
      <p:sp>
        <p:nvSpPr>
          <p:cNvPr id="14" name="Rectangle 13"/>
          <p:cNvSpPr/>
          <p:nvPr/>
        </p:nvSpPr>
        <p:spPr>
          <a:xfrm>
            <a:off x="3289300" y="2730500"/>
            <a:ext cx="2667000" cy="1651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89300" y="2730500"/>
            <a:ext cx="2667000" cy="63500"/>
          </a:xfrm>
          <a:prstGeom prst="rect">
            <a:avLst/>
          </a:prstGeom>
          <a:solidFill>
            <a:srgbClr val="94A3B8"/>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41700" y="2933700"/>
            <a:ext cx="2362200" cy="330200"/>
          </a:xfrm>
          <a:prstGeom prst="rect">
            <a:avLst/>
          </a:prstGeom>
          <a:noFill/>
        </p:spPr>
        <p:txBody>
          <a:bodyPr wrap="square" lIns="0" tIns="0" rIns="0" bIns="0" anchor="t">
            <a:spAutoFit/>
          </a:bodyPr>
          <a:lstStyle/>
          <a:p>
            <a:pPr algn="ctr">
              <a:lnSpc>
                <a:spcPct val="115000"/>
              </a:lnSpc>
            </a:pPr>
            <a:r>
              <a:rPr sz="1600" b="1">
                <a:solidFill>
                  <a:srgbClr val="1A2332"/>
                </a:solidFill>
                <a:latin typeface="Consolas"/>
                <a:cs typeface="Consolas"/>
              </a:rPr>
              <a:t>k3s-worker-1</a:t>
            </a:r>
          </a:p>
        </p:txBody>
      </p:sp>
      <p:sp>
        <p:nvSpPr>
          <p:cNvPr id="17" name="TextBox 16"/>
          <p:cNvSpPr txBox="1"/>
          <p:nvPr/>
        </p:nvSpPr>
        <p:spPr>
          <a:xfrm>
            <a:off x="3441700" y="3340100"/>
            <a:ext cx="2362200" cy="330200"/>
          </a:xfrm>
          <a:prstGeom prst="rect">
            <a:avLst/>
          </a:prstGeom>
          <a:noFill/>
        </p:spPr>
        <p:txBody>
          <a:bodyPr wrap="square" lIns="0" tIns="0" rIns="0" bIns="0" anchor="t">
            <a:spAutoFit/>
          </a:bodyPr>
          <a:lstStyle/>
          <a:p>
            <a:pPr algn="ctr">
              <a:lnSpc>
                <a:spcPct val="115000"/>
              </a:lnSpc>
            </a:pPr>
            <a:r>
              <a:rPr sz="1300" b="1">
                <a:solidFill>
                  <a:srgbClr val="4A5568"/>
                </a:solidFill>
                <a:latin typeface="Calibri"/>
                <a:cs typeface="Calibri"/>
              </a:rPr>
              <a:t>Worker</a:t>
            </a:r>
          </a:p>
        </p:txBody>
      </p:sp>
      <p:sp>
        <p:nvSpPr>
          <p:cNvPr id="18" name="TextBox 17"/>
          <p:cNvSpPr txBox="1"/>
          <p:nvPr/>
        </p:nvSpPr>
        <p:spPr>
          <a:xfrm>
            <a:off x="3441700" y="3746500"/>
            <a:ext cx="2362200" cy="304800"/>
          </a:xfrm>
          <a:prstGeom prst="rect">
            <a:avLst/>
          </a:prstGeom>
          <a:noFill/>
        </p:spPr>
        <p:txBody>
          <a:bodyPr wrap="square" lIns="0" tIns="0" rIns="0" bIns="0" anchor="t">
            <a:spAutoFit/>
          </a:bodyPr>
          <a:lstStyle/>
          <a:p>
            <a:pPr algn="ctr">
              <a:lnSpc>
                <a:spcPct val="115000"/>
              </a:lnSpc>
            </a:pPr>
            <a:r>
              <a:rPr sz="1200">
                <a:solidFill>
                  <a:srgbClr val="4A5568"/>
                </a:solidFill>
                <a:latin typeface="Consolas"/>
                <a:cs typeface="Consolas"/>
              </a:rPr>
              <a:t>192.168.56.11</a:t>
            </a:r>
          </a:p>
        </p:txBody>
      </p:sp>
      <p:sp>
        <p:nvSpPr>
          <p:cNvPr id="19" name="Rectangle 18"/>
          <p:cNvSpPr/>
          <p:nvPr/>
        </p:nvSpPr>
        <p:spPr>
          <a:xfrm>
            <a:off x="6032500" y="2730500"/>
            <a:ext cx="2667000" cy="1651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032500" y="2730500"/>
            <a:ext cx="2667000" cy="63500"/>
          </a:xfrm>
          <a:prstGeom prst="rect">
            <a:avLst/>
          </a:prstGeom>
          <a:solidFill>
            <a:srgbClr val="94A3B8"/>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84900" y="2933700"/>
            <a:ext cx="2362200" cy="330200"/>
          </a:xfrm>
          <a:prstGeom prst="rect">
            <a:avLst/>
          </a:prstGeom>
          <a:noFill/>
        </p:spPr>
        <p:txBody>
          <a:bodyPr wrap="square" lIns="0" tIns="0" rIns="0" bIns="0" anchor="t">
            <a:spAutoFit/>
          </a:bodyPr>
          <a:lstStyle/>
          <a:p>
            <a:pPr algn="ctr">
              <a:lnSpc>
                <a:spcPct val="115000"/>
              </a:lnSpc>
            </a:pPr>
            <a:r>
              <a:rPr sz="1600" b="1">
                <a:solidFill>
                  <a:srgbClr val="1A2332"/>
                </a:solidFill>
                <a:latin typeface="Consolas"/>
                <a:cs typeface="Consolas"/>
              </a:rPr>
              <a:t>k3s-worker-2</a:t>
            </a:r>
          </a:p>
        </p:txBody>
      </p:sp>
      <p:sp>
        <p:nvSpPr>
          <p:cNvPr id="22" name="TextBox 21"/>
          <p:cNvSpPr txBox="1"/>
          <p:nvPr/>
        </p:nvSpPr>
        <p:spPr>
          <a:xfrm>
            <a:off x="6184900" y="3340100"/>
            <a:ext cx="2362200" cy="330200"/>
          </a:xfrm>
          <a:prstGeom prst="rect">
            <a:avLst/>
          </a:prstGeom>
          <a:noFill/>
        </p:spPr>
        <p:txBody>
          <a:bodyPr wrap="square" lIns="0" tIns="0" rIns="0" bIns="0" anchor="t">
            <a:spAutoFit/>
          </a:bodyPr>
          <a:lstStyle/>
          <a:p>
            <a:pPr algn="ctr">
              <a:lnSpc>
                <a:spcPct val="115000"/>
              </a:lnSpc>
            </a:pPr>
            <a:r>
              <a:rPr sz="1300" b="1">
                <a:solidFill>
                  <a:srgbClr val="4A5568"/>
                </a:solidFill>
                <a:latin typeface="Calibri"/>
                <a:cs typeface="Calibri"/>
              </a:rPr>
              <a:t>Worker</a:t>
            </a:r>
          </a:p>
        </p:txBody>
      </p:sp>
      <p:sp>
        <p:nvSpPr>
          <p:cNvPr id="23" name="TextBox 22"/>
          <p:cNvSpPr txBox="1"/>
          <p:nvPr/>
        </p:nvSpPr>
        <p:spPr>
          <a:xfrm>
            <a:off x="6184900" y="3746500"/>
            <a:ext cx="2362200" cy="304800"/>
          </a:xfrm>
          <a:prstGeom prst="rect">
            <a:avLst/>
          </a:prstGeom>
          <a:noFill/>
        </p:spPr>
        <p:txBody>
          <a:bodyPr wrap="square" lIns="0" tIns="0" rIns="0" bIns="0" anchor="t">
            <a:spAutoFit/>
          </a:bodyPr>
          <a:lstStyle/>
          <a:p>
            <a:pPr algn="ctr">
              <a:lnSpc>
                <a:spcPct val="115000"/>
              </a:lnSpc>
            </a:pPr>
            <a:r>
              <a:rPr sz="1200">
                <a:solidFill>
                  <a:srgbClr val="4A5568"/>
                </a:solidFill>
                <a:latin typeface="Consolas"/>
                <a:cs typeface="Consolas"/>
              </a:rPr>
              <a:t>192.168.56.12</a:t>
            </a:r>
          </a:p>
        </p:txBody>
      </p:sp>
      <p:sp>
        <p:nvSpPr>
          <p:cNvPr id="24" name="Rectangle 23"/>
          <p:cNvSpPr/>
          <p:nvPr/>
        </p:nvSpPr>
        <p:spPr>
          <a:xfrm>
            <a:off x="8775700" y="2730500"/>
            <a:ext cx="2667000" cy="1651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775700" y="2730500"/>
            <a:ext cx="2667000" cy="63500"/>
          </a:xfrm>
          <a:prstGeom prst="rect">
            <a:avLst/>
          </a:prstGeom>
          <a:solidFill>
            <a:srgbClr val="94A3B8"/>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28100" y="2933700"/>
            <a:ext cx="2362200" cy="330200"/>
          </a:xfrm>
          <a:prstGeom prst="rect">
            <a:avLst/>
          </a:prstGeom>
          <a:noFill/>
        </p:spPr>
        <p:txBody>
          <a:bodyPr wrap="square" lIns="0" tIns="0" rIns="0" bIns="0" anchor="t">
            <a:spAutoFit/>
          </a:bodyPr>
          <a:lstStyle/>
          <a:p>
            <a:pPr algn="ctr">
              <a:lnSpc>
                <a:spcPct val="115000"/>
              </a:lnSpc>
            </a:pPr>
            <a:r>
              <a:rPr sz="1600" b="1">
                <a:solidFill>
                  <a:srgbClr val="1A2332"/>
                </a:solidFill>
                <a:latin typeface="Consolas"/>
                <a:cs typeface="Consolas"/>
              </a:rPr>
              <a:t>k3s-worker-3</a:t>
            </a:r>
          </a:p>
        </p:txBody>
      </p:sp>
      <p:sp>
        <p:nvSpPr>
          <p:cNvPr id="27" name="TextBox 26"/>
          <p:cNvSpPr txBox="1"/>
          <p:nvPr/>
        </p:nvSpPr>
        <p:spPr>
          <a:xfrm>
            <a:off x="8928100" y="3340100"/>
            <a:ext cx="2362200" cy="330200"/>
          </a:xfrm>
          <a:prstGeom prst="rect">
            <a:avLst/>
          </a:prstGeom>
          <a:noFill/>
        </p:spPr>
        <p:txBody>
          <a:bodyPr wrap="square" lIns="0" tIns="0" rIns="0" bIns="0" anchor="t">
            <a:spAutoFit/>
          </a:bodyPr>
          <a:lstStyle/>
          <a:p>
            <a:pPr algn="ctr">
              <a:lnSpc>
                <a:spcPct val="115000"/>
              </a:lnSpc>
            </a:pPr>
            <a:r>
              <a:rPr sz="1300" b="1">
                <a:solidFill>
                  <a:srgbClr val="4A5568"/>
                </a:solidFill>
                <a:latin typeface="Calibri"/>
                <a:cs typeface="Calibri"/>
              </a:rPr>
              <a:t>Worker (fase 11)</a:t>
            </a:r>
          </a:p>
        </p:txBody>
      </p:sp>
      <p:sp>
        <p:nvSpPr>
          <p:cNvPr id="28" name="TextBox 27"/>
          <p:cNvSpPr txBox="1"/>
          <p:nvPr/>
        </p:nvSpPr>
        <p:spPr>
          <a:xfrm>
            <a:off x="8928100" y="3746500"/>
            <a:ext cx="2362200" cy="304800"/>
          </a:xfrm>
          <a:prstGeom prst="rect">
            <a:avLst/>
          </a:prstGeom>
          <a:noFill/>
        </p:spPr>
        <p:txBody>
          <a:bodyPr wrap="square" lIns="0" tIns="0" rIns="0" bIns="0" anchor="t">
            <a:spAutoFit/>
          </a:bodyPr>
          <a:lstStyle/>
          <a:p>
            <a:pPr algn="ctr">
              <a:lnSpc>
                <a:spcPct val="115000"/>
              </a:lnSpc>
            </a:pPr>
            <a:r>
              <a:rPr sz="1200">
                <a:solidFill>
                  <a:srgbClr val="4A5568"/>
                </a:solidFill>
                <a:latin typeface="Consolas"/>
                <a:cs typeface="Consolas"/>
              </a:rPr>
              <a:t>192.168.56.13</a:t>
            </a:r>
          </a:p>
        </p:txBody>
      </p:sp>
      <p:sp>
        <p:nvSpPr>
          <p:cNvPr id="29" name="Rounded Rectangle 28"/>
          <p:cNvSpPr/>
          <p:nvPr/>
        </p:nvSpPr>
        <p:spPr>
          <a:xfrm>
            <a:off x="546100" y="4572000"/>
            <a:ext cx="11150600" cy="5080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300" b="1">
                <a:solidFill>
                  <a:srgbClr val="1A2332"/>
                </a:solidFill>
                <a:latin typeface="Calibri"/>
                <a:cs typeface="Calibri"/>
              </a:rPr>
              <a:t>K3s v1.35.5  -  Flannel VXLAN  -  ingress-nginx</a:t>
            </a:r>
          </a:p>
        </p:txBody>
      </p:sp>
      <p:sp>
        <p:nvSpPr>
          <p:cNvPr id="30" name="Rounded Rectangle 29"/>
          <p:cNvSpPr/>
          <p:nvPr/>
        </p:nvSpPr>
        <p:spPr>
          <a:xfrm>
            <a:off x="546100" y="5207000"/>
            <a:ext cx="11150600" cy="8890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400" b="1">
                <a:solidFill>
                  <a:srgbClr val="FFFFFF"/>
                </a:solidFill>
                <a:latin typeface="Calibri"/>
                <a:cs typeface="Calibri"/>
              </a:rPr>
              <a:t>Namespace the-store: UI + Catalog + Carts + Checkout + Orders</a:t>
            </a:r>
          </a:p>
        </p:txBody>
      </p:sp>
      <p:sp>
        <p:nvSpPr>
          <p:cNvPr id="31" name="TextBox 30"/>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32" name="TextBox 31"/>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8 / 21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TECNOLOGIAS</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Stack en 3 herramientas</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2</a:t>
            </a:r>
          </a:p>
        </p:txBody>
      </p:sp>
      <p:sp>
        <p:nvSpPr>
          <p:cNvPr id="7" name="Rectangle 6"/>
          <p:cNvSpPr/>
          <p:nvPr/>
        </p:nvSpPr>
        <p:spPr>
          <a:xfrm>
            <a:off x="546100" y="1651000"/>
            <a:ext cx="3619500" cy="4635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6100" y="1651000"/>
            <a:ext cx="3619500" cy="7620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6100" y="1803400"/>
            <a:ext cx="3619500" cy="482600"/>
          </a:xfrm>
          <a:prstGeom prst="rect">
            <a:avLst/>
          </a:prstGeom>
          <a:noFill/>
        </p:spPr>
        <p:txBody>
          <a:bodyPr wrap="square" lIns="0" tIns="0" rIns="0" bIns="0" anchor="t">
            <a:spAutoFit/>
          </a:bodyPr>
          <a:lstStyle/>
          <a:p>
            <a:pPr algn="ctr">
              <a:lnSpc>
                <a:spcPct val="115000"/>
              </a:lnSpc>
            </a:pPr>
            <a:r>
              <a:rPr sz="2400" b="1">
                <a:solidFill>
                  <a:srgbClr val="FFFFFF"/>
                </a:solidFill>
                <a:latin typeface="Calibri"/>
                <a:cs typeface="Calibri"/>
              </a:rPr>
              <a:t>Vagrant</a:t>
            </a:r>
          </a:p>
        </p:txBody>
      </p:sp>
      <p:sp>
        <p:nvSpPr>
          <p:cNvPr id="10" name="Rectangle 9"/>
          <p:cNvSpPr/>
          <p:nvPr/>
        </p:nvSpPr>
        <p:spPr>
          <a:xfrm>
            <a:off x="546100" y="2374900"/>
            <a:ext cx="3619500" cy="391160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300" y="2641600"/>
            <a:ext cx="3213100" cy="406400"/>
          </a:xfrm>
          <a:prstGeom prst="rect">
            <a:avLst/>
          </a:prstGeom>
          <a:noFill/>
        </p:spPr>
        <p:txBody>
          <a:bodyPr wrap="square" lIns="0" tIns="0" rIns="0" bIns="0" anchor="t">
            <a:spAutoFit/>
          </a:bodyPr>
          <a:lstStyle/>
          <a:p>
            <a:pPr algn="l">
              <a:lnSpc>
                <a:spcPct val="115000"/>
              </a:lnSpc>
            </a:pPr>
            <a:r>
              <a:rPr sz="1400" b="1" i="1">
                <a:solidFill>
                  <a:srgbClr val="1A2332"/>
                </a:solidFill>
                <a:latin typeface="Calibri"/>
                <a:cs typeface="Calibri"/>
              </a:rPr>
              <a:t>Define y crea las VMs</a:t>
            </a:r>
          </a:p>
        </p:txBody>
      </p:sp>
      <p:sp>
        <p:nvSpPr>
          <p:cNvPr id="12" name="TextBox 11"/>
          <p:cNvSpPr txBox="1"/>
          <p:nvPr/>
        </p:nvSpPr>
        <p:spPr>
          <a:xfrm>
            <a:off x="749300" y="3124200"/>
            <a:ext cx="3213100" cy="2540000"/>
          </a:xfrm>
          <a:prstGeom prst="rect">
            <a:avLst/>
          </a:prstGeom>
          <a:noFill/>
        </p:spPr>
        <p:txBody>
          <a:bodyPr wrap="square" lIns="0" tIns="0" rIns="0" bIns="0" anchor="t">
            <a:spAutoFit/>
          </a:bodyPr>
          <a:lstStyle/>
          <a:p>
            <a:pPr algn="l">
              <a:lnSpc>
                <a:spcPct val="130000"/>
              </a:lnSpc>
            </a:pPr>
            <a:r>
              <a:rPr sz="1300">
                <a:solidFill>
                  <a:srgbClr val="4A5568"/>
                </a:solidFill>
                <a:latin typeface="Calibri"/>
                <a:cs typeface="Calibri"/>
              </a:rPr>
              <a:t>Un archivo describe nombre, IP, CPU y RAM de cada nodo. Reproducible y portable.</a:t>
            </a:r>
          </a:p>
        </p:txBody>
      </p:sp>
      <p:sp>
        <p:nvSpPr>
          <p:cNvPr id="13" name="TextBox 12"/>
          <p:cNvSpPr txBox="1"/>
          <p:nvPr/>
        </p:nvSpPr>
        <p:spPr>
          <a:xfrm>
            <a:off x="749300" y="5803900"/>
            <a:ext cx="3213100" cy="330200"/>
          </a:xfrm>
          <a:prstGeom prst="rect">
            <a:avLst/>
          </a:prstGeom>
          <a:noFill/>
        </p:spPr>
        <p:txBody>
          <a:bodyPr wrap="square" lIns="0" tIns="0" rIns="0" bIns="0" anchor="t">
            <a:spAutoFit/>
          </a:bodyPr>
          <a:lstStyle/>
          <a:p>
            <a:pPr algn="ctr">
              <a:lnSpc>
                <a:spcPct val="115000"/>
              </a:lnSpc>
            </a:pPr>
            <a:r>
              <a:rPr sz="1000" b="1">
                <a:solidFill>
                  <a:srgbClr val="326CE5"/>
                </a:solidFill>
                <a:latin typeface="Calibri"/>
                <a:cs typeface="Calibri"/>
              </a:rPr>
              <a:t>INFRAESTRUCTURA COMO CODIGO</a:t>
            </a:r>
          </a:p>
        </p:txBody>
      </p:sp>
      <p:sp>
        <p:nvSpPr>
          <p:cNvPr id="14" name="Rectangle 13"/>
          <p:cNvSpPr/>
          <p:nvPr/>
        </p:nvSpPr>
        <p:spPr>
          <a:xfrm>
            <a:off x="4318000" y="1651000"/>
            <a:ext cx="3619500" cy="4635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18000" y="1651000"/>
            <a:ext cx="3619500" cy="7620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8000" y="1803400"/>
            <a:ext cx="3619500" cy="482600"/>
          </a:xfrm>
          <a:prstGeom prst="rect">
            <a:avLst/>
          </a:prstGeom>
          <a:noFill/>
        </p:spPr>
        <p:txBody>
          <a:bodyPr wrap="square" lIns="0" tIns="0" rIns="0" bIns="0" anchor="t">
            <a:spAutoFit/>
          </a:bodyPr>
          <a:lstStyle/>
          <a:p>
            <a:pPr algn="ctr">
              <a:lnSpc>
                <a:spcPct val="115000"/>
              </a:lnSpc>
            </a:pPr>
            <a:r>
              <a:rPr sz="2400" b="1">
                <a:solidFill>
                  <a:srgbClr val="FFFFFF"/>
                </a:solidFill>
                <a:latin typeface="Calibri"/>
                <a:cs typeface="Calibri"/>
              </a:rPr>
              <a:t>Ansible</a:t>
            </a:r>
          </a:p>
        </p:txBody>
      </p:sp>
      <p:sp>
        <p:nvSpPr>
          <p:cNvPr id="17" name="Rectangle 16"/>
          <p:cNvSpPr/>
          <p:nvPr/>
        </p:nvSpPr>
        <p:spPr>
          <a:xfrm>
            <a:off x="4330700" y="2374900"/>
            <a:ext cx="3619500" cy="391160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21200" y="2641600"/>
            <a:ext cx="3213100" cy="406400"/>
          </a:xfrm>
          <a:prstGeom prst="rect">
            <a:avLst/>
          </a:prstGeom>
          <a:noFill/>
        </p:spPr>
        <p:txBody>
          <a:bodyPr wrap="square" lIns="0" tIns="0" rIns="0" bIns="0" anchor="t">
            <a:spAutoFit/>
          </a:bodyPr>
          <a:lstStyle/>
          <a:p>
            <a:pPr algn="l">
              <a:lnSpc>
                <a:spcPct val="115000"/>
              </a:lnSpc>
            </a:pPr>
            <a:r>
              <a:rPr sz="1400" b="1" i="1">
                <a:solidFill>
                  <a:srgbClr val="1A2332"/>
                </a:solidFill>
                <a:latin typeface="Calibri"/>
                <a:cs typeface="Calibri"/>
              </a:rPr>
              <a:t>Configura las VMs</a:t>
            </a:r>
          </a:p>
        </p:txBody>
      </p:sp>
      <p:sp>
        <p:nvSpPr>
          <p:cNvPr id="19" name="TextBox 18"/>
          <p:cNvSpPr txBox="1"/>
          <p:nvPr/>
        </p:nvSpPr>
        <p:spPr>
          <a:xfrm>
            <a:off x="4521200" y="3124200"/>
            <a:ext cx="3213100" cy="2540000"/>
          </a:xfrm>
          <a:prstGeom prst="rect">
            <a:avLst/>
          </a:prstGeom>
          <a:noFill/>
        </p:spPr>
        <p:txBody>
          <a:bodyPr wrap="square" lIns="0" tIns="0" rIns="0" bIns="0" anchor="t">
            <a:spAutoFit/>
          </a:bodyPr>
          <a:lstStyle/>
          <a:p>
            <a:pPr algn="l">
              <a:lnSpc>
                <a:spcPct val="130000"/>
              </a:lnSpc>
            </a:pPr>
            <a:r>
              <a:rPr sz="1300">
                <a:solidFill>
                  <a:srgbClr val="4A5568"/>
                </a:solidFill>
                <a:latin typeface="Calibri"/>
                <a:cs typeface="Calibri"/>
              </a:rPr>
              <a:t>Instala K3s, abre puertos, importa imagenes y aplica los manifiestos. Idempotente.</a:t>
            </a:r>
          </a:p>
        </p:txBody>
      </p:sp>
      <p:sp>
        <p:nvSpPr>
          <p:cNvPr id="20" name="TextBox 19"/>
          <p:cNvSpPr txBox="1"/>
          <p:nvPr/>
        </p:nvSpPr>
        <p:spPr>
          <a:xfrm>
            <a:off x="4521200" y="5803900"/>
            <a:ext cx="3213100" cy="330200"/>
          </a:xfrm>
          <a:prstGeom prst="rect">
            <a:avLst/>
          </a:prstGeom>
          <a:noFill/>
        </p:spPr>
        <p:txBody>
          <a:bodyPr wrap="square" lIns="0" tIns="0" rIns="0" bIns="0" anchor="t">
            <a:spAutoFit/>
          </a:bodyPr>
          <a:lstStyle/>
          <a:p>
            <a:pPr algn="ctr">
              <a:lnSpc>
                <a:spcPct val="115000"/>
              </a:lnSpc>
            </a:pPr>
            <a:r>
              <a:rPr sz="1000" b="1">
                <a:solidFill>
                  <a:srgbClr val="326CE5"/>
                </a:solidFill>
                <a:latin typeface="Calibri"/>
                <a:cs typeface="Calibri"/>
              </a:rPr>
              <a:t>AUTOMATIZACION SIN AGENTES</a:t>
            </a:r>
          </a:p>
        </p:txBody>
      </p:sp>
      <p:sp>
        <p:nvSpPr>
          <p:cNvPr id="21" name="Rectangle 20"/>
          <p:cNvSpPr/>
          <p:nvPr/>
        </p:nvSpPr>
        <p:spPr>
          <a:xfrm>
            <a:off x="8089900" y="1651000"/>
            <a:ext cx="3619500" cy="46355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89900" y="1651000"/>
            <a:ext cx="3619500" cy="7620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89900" y="1803400"/>
            <a:ext cx="3619500" cy="482600"/>
          </a:xfrm>
          <a:prstGeom prst="rect">
            <a:avLst/>
          </a:prstGeom>
          <a:noFill/>
        </p:spPr>
        <p:txBody>
          <a:bodyPr wrap="square" lIns="0" tIns="0" rIns="0" bIns="0" anchor="t">
            <a:spAutoFit/>
          </a:bodyPr>
          <a:lstStyle/>
          <a:p>
            <a:pPr algn="ctr">
              <a:lnSpc>
                <a:spcPct val="115000"/>
              </a:lnSpc>
            </a:pPr>
            <a:r>
              <a:rPr sz="2400" b="1">
                <a:solidFill>
                  <a:srgbClr val="FFFFFF"/>
                </a:solidFill>
                <a:latin typeface="Calibri"/>
                <a:cs typeface="Calibri"/>
              </a:rPr>
              <a:t>K3s</a:t>
            </a:r>
          </a:p>
        </p:txBody>
      </p:sp>
      <p:sp>
        <p:nvSpPr>
          <p:cNvPr id="24" name="Rectangle 23"/>
          <p:cNvSpPr/>
          <p:nvPr/>
        </p:nvSpPr>
        <p:spPr>
          <a:xfrm>
            <a:off x="8115300" y="2374900"/>
            <a:ext cx="3619500" cy="391160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93100" y="2641600"/>
            <a:ext cx="3213100" cy="406400"/>
          </a:xfrm>
          <a:prstGeom prst="rect">
            <a:avLst/>
          </a:prstGeom>
          <a:noFill/>
        </p:spPr>
        <p:txBody>
          <a:bodyPr wrap="square" lIns="0" tIns="0" rIns="0" bIns="0" anchor="t">
            <a:spAutoFit/>
          </a:bodyPr>
          <a:lstStyle/>
          <a:p>
            <a:pPr algn="l">
              <a:lnSpc>
                <a:spcPct val="115000"/>
              </a:lnSpc>
            </a:pPr>
            <a:r>
              <a:rPr sz="1400" b="1" i="1">
                <a:solidFill>
                  <a:srgbClr val="1A2332"/>
                </a:solidFill>
                <a:latin typeface="Calibri"/>
                <a:cs typeface="Calibri"/>
              </a:rPr>
              <a:t>Es el Kubernetes que corre</a:t>
            </a:r>
          </a:p>
        </p:txBody>
      </p:sp>
      <p:sp>
        <p:nvSpPr>
          <p:cNvPr id="26" name="TextBox 25"/>
          <p:cNvSpPr txBox="1"/>
          <p:nvPr/>
        </p:nvSpPr>
        <p:spPr>
          <a:xfrm>
            <a:off x="8293100" y="3124200"/>
            <a:ext cx="3213100" cy="2540000"/>
          </a:xfrm>
          <a:prstGeom prst="rect">
            <a:avLst/>
          </a:prstGeom>
          <a:noFill/>
        </p:spPr>
        <p:txBody>
          <a:bodyPr wrap="square" lIns="0" tIns="0" rIns="0" bIns="0" anchor="t">
            <a:spAutoFit/>
          </a:bodyPr>
          <a:lstStyle/>
          <a:p>
            <a:pPr algn="l">
              <a:lnSpc>
                <a:spcPct val="130000"/>
              </a:lnSpc>
            </a:pPr>
            <a:r>
              <a:rPr sz="1300">
                <a:solidFill>
                  <a:srgbClr val="4A5568"/>
                </a:solidFill>
                <a:latin typeface="Calibri"/>
                <a:cs typeface="Calibri"/>
              </a:rPr>
              <a:t>Distribucion liviana, certificada y completa. Pensada para edge y para laboratorios.</a:t>
            </a:r>
          </a:p>
        </p:txBody>
      </p:sp>
      <p:sp>
        <p:nvSpPr>
          <p:cNvPr id="27" name="TextBox 26"/>
          <p:cNvSpPr txBox="1"/>
          <p:nvPr/>
        </p:nvSpPr>
        <p:spPr>
          <a:xfrm>
            <a:off x="8293100" y="5803900"/>
            <a:ext cx="3213100" cy="330200"/>
          </a:xfrm>
          <a:prstGeom prst="rect">
            <a:avLst/>
          </a:prstGeom>
          <a:noFill/>
        </p:spPr>
        <p:txBody>
          <a:bodyPr wrap="square" lIns="0" tIns="0" rIns="0" bIns="0" anchor="t">
            <a:spAutoFit/>
          </a:bodyPr>
          <a:lstStyle/>
          <a:p>
            <a:pPr algn="ctr">
              <a:lnSpc>
                <a:spcPct val="115000"/>
              </a:lnSpc>
            </a:pPr>
            <a:r>
              <a:rPr sz="1000" b="1">
                <a:solidFill>
                  <a:srgbClr val="326CE5"/>
                </a:solidFill>
                <a:latin typeface="Calibri"/>
                <a:cs typeface="Calibri"/>
              </a:rPr>
              <a:t>ORQUESTACION DE CONTENEDORES</a:t>
            </a:r>
          </a:p>
        </p:txBody>
      </p:sp>
      <p:sp>
        <p:nvSpPr>
          <p:cNvPr id="28" name="TextBox 27"/>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29" name="TextBox 28"/>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9 / 21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TECNOLOGIAS</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Vagrant - infraestructura como codigo</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2</a:t>
            </a:r>
          </a:p>
        </p:txBody>
      </p:sp>
      <p:sp>
        <p:nvSpPr>
          <p:cNvPr id="7" name="TextBox 6"/>
          <p:cNvSpPr txBox="1"/>
          <p:nvPr/>
        </p:nvSpPr>
        <p:spPr>
          <a:xfrm>
            <a:off x="546100" y="1651000"/>
            <a:ext cx="5486400" cy="3810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Como lo usamos</a:t>
            </a:r>
          </a:p>
        </p:txBody>
      </p:sp>
      <p:sp>
        <p:nvSpPr>
          <p:cNvPr id="8" name="TextBox 7"/>
          <p:cNvSpPr txBox="1"/>
          <p:nvPr/>
        </p:nvSpPr>
        <p:spPr>
          <a:xfrm>
            <a:off x="546100" y="2095500"/>
            <a:ext cx="5486400" cy="4127500"/>
          </a:xfrm>
          <a:prstGeom prst="rect">
            <a:avLst/>
          </a:prstGeom>
          <a:noFill/>
        </p:spPr>
        <p:txBody>
          <a:bodyPr wrap="square" lIns="0" tIns="0" rIns="0" bIns="0">
            <a:spAutoFit/>
          </a:bodyPr>
          <a:lstStyle/>
          <a:p>
            <a:pPr algn="l">
              <a:lnSpc>
                <a:spcPct val="130000"/>
              </a:lnSpc>
              <a:spcAft>
                <a:spcPts val="800"/>
              </a:spcAft>
            </a:pPr>
            <a:r>
              <a:rPr sz="1400">
                <a:solidFill>
                  <a:srgbClr val="4A5568"/>
                </a:solidFill>
                <a:latin typeface="Calibri"/>
                <a:cs typeface="Calibri"/>
              </a:rPr>
              <a:t>■  Box bento/ubuntu-24.04 sobre VirtualBox</a:t>
            </a:r>
          </a:p>
          <a:p>
            <a:pPr algn="l">
              <a:lnSpc>
                <a:spcPct val="130000"/>
              </a:lnSpc>
              <a:spcAft>
                <a:spcPts val="800"/>
              </a:spcAft>
            </a:pPr>
            <a:r>
              <a:rPr sz="1400">
                <a:solidFill>
                  <a:srgbClr val="4A5568"/>
                </a:solidFill>
                <a:latin typeface="Calibri"/>
                <a:cs typeface="Calibri"/>
              </a:rPr>
              <a:t>■  Red host-only 192.168.56.0/24 con IPs fijas</a:t>
            </a:r>
          </a:p>
          <a:p>
            <a:pPr algn="l">
              <a:lnSpc>
                <a:spcPct val="130000"/>
              </a:lnSpc>
              <a:spcAft>
                <a:spcPts val="800"/>
              </a:spcAft>
            </a:pPr>
            <a:r>
              <a:rPr sz="1400">
                <a:solidFill>
                  <a:srgbClr val="4A5568"/>
                </a:solidFill>
                <a:latin typeface="Calibri"/>
                <a:cs typeface="Calibri"/>
              </a:rPr>
              <a:t>■  3 VMs arrancan automaticamente, la 4ta queda en standby</a:t>
            </a:r>
          </a:p>
          <a:p>
            <a:pPr algn="l">
              <a:lnSpc>
                <a:spcPct val="130000"/>
              </a:lnSpc>
              <a:spcAft>
                <a:spcPts val="800"/>
              </a:spcAft>
            </a:pPr>
            <a:r>
              <a:rPr sz="1400">
                <a:solidFill>
                  <a:srgbClr val="4A5568"/>
                </a:solidFill>
                <a:latin typeface="Calibri"/>
                <a:cs typeface="Calibri"/>
              </a:rPr>
              <a:t>■  Definicion declarativa en un solo Ruby file</a:t>
            </a:r>
          </a:p>
          <a:p>
            <a:pPr algn="l">
              <a:lnSpc>
                <a:spcPct val="130000"/>
              </a:lnSpc>
              <a:spcAft>
                <a:spcPts val="800"/>
              </a:spcAft>
            </a:pPr>
            <a:r>
              <a:rPr sz="1400">
                <a:solidFill>
                  <a:srgbClr val="4A5568"/>
                </a:solidFill>
                <a:latin typeface="Calibri"/>
                <a:cs typeface="Calibri"/>
              </a:rPr>
              <a:t>■  Levanta todo con: vagrant up</a:t>
            </a:r>
          </a:p>
        </p:txBody>
      </p:sp>
      <p:sp>
        <p:nvSpPr>
          <p:cNvPr id="9" name="TextBox 8"/>
          <p:cNvSpPr txBox="1"/>
          <p:nvPr/>
        </p:nvSpPr>
        <p:spPr>
          <a:xfrm>
            <a:off x="6400800" y="1651000"/>
            <a:ext cx="5308600" cy="3810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Extracto de infra/Vagrantfile</a:t>
            </a:r>
          </a:p>
        </p:txBody>
      </p:sp>
      <p:sp>
        <p:nvSpPr>
          <p:cNvPr id="10" name="Rectangle 9"/>
          <p:cNvSpPr/>
          <p:nvPr/>
        </p:nvSpPr>
        <p:spPr>
          <a:xfrm>
            <a:off x="6400800" y="2095500"/>
            <a:ext cx="5308600" cy="4127500"/>
          </a:xfrm>
          <a:prstGeom prst="rect">
            <a:avLst/>
          </a:prstGeom>
          <a:solidFill>
            <a:srgbClr val="1E293B"/>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78600" y="2260600"/>
            <a:ext cx="4978400" cy="3810000"/>
          </a:xfrm>
          <a:prstGeom prst="rect">
            <a:avLst/>
          </a:prstGeom>
          <a:noFill/>
        </p:spPr>
        <p:txBody>
          <a:bodyPr wrap="square" lIns="0" tIns="0" rIns="0" bIns="0">
            <a:spAutoFit/>
          </a:bodyPr>
          <a:lstStyle/>
          <a:p>
            <a:pPr>
              <a:lnSpc>
                <a:spcPct val="110000"/>
              </a:lnSpc>
            </a:pPr>
            <a:r>
              <a:rPr sz="1100">
                <a:solidFill>
                  <a:srgbClr val="E2E8F0"/>
                </a:solidFill>
                <a:latin typeface="Consolas"/>
                <a:cs typeface="Consolas"/>
              </a:rPr>
              <a:t>NODES = [</a:t>
            </a:r>
          </a:p>
          <a:p>
            <a:pPr>
              <a:lnSpc>
                <a:spcPct val="110000"/>
              </a:lnSpc>
            </a:pPr>
            <a:r>
              <a:rPr sz="1100">
                <a:solidFill>
                  <a:srgbClr val="E2E8F0"/>
                </a:solidFill>
                <a:latin typeface="Consolas"/>
                <a:cs typeface="Consolas"/>
              </a:rPr>
              <a:t>  { name: 'k3s-control',</a:t>
            </a:r>
          </a:p>
          <a:p>
            <a:pPr>
              <a:lnSpc>
                <a:spcPct val="110000"/>
              </a:lnSpc>
            </a:pPr>
            <a:r>
              <a:rPr sz="1100">
                <a:solidFill>
                  <a:srgbClr val="E2E8F0"/>
                </a:solidFill>
                <a:latin typeface="Consolas"/>
                <a:cs typeface="Consolas"/>
              </a:rPr>
              <a:t>    ip: '192.168.56.10',</a:t>
            </a:r>
          </a:p>
          <a:p>
            <a:pPr>
              <a:lnSpc>
                <a:spcPct val="110000"/>
              </a:lnSpc>
            </a:pPr>
            <a:r>
              <a:rPr sz="1100">
                <a:solidFill>
                  <a:srgbClr val="E2E8F0"/>
                </a:solidFill>
                <a:latin typeface="Consolas"/>
                <a:cs typeface="Consolas"/>
              </a:rPr>
              <a:t>    cpus: 2, memory: 2048 },</a:t>
            </a:r>
          </a:p>
          <a:p>
            <a:pPr>
              <a:lnSpc>
                <a:spcPct val="110000"/>
              </a:lnSpc>
            </a:pPr>
            <a:r>
              <a:rPr sz="1100">
                <a:solidFill>
                  <a:srgbClr val="E2E8F0"/>
                </a:solidFill>
                <a:latin typeface="Consolas"/>
                <a:cs typeface="Consolas"/>
              </a:rPr>
              <a:t>  { name: 'k3s-worker-1',</a:t>
            </a:r>
          </a:p>
          <a:p>
            <a:pPr>
              <a:lnSpc>
                <a:spcPct val="110000"/>
              </a:lnSpc>
            </a:pPr>
            <a:r>
              <a:rPr sz="1100">
                <a:solidFill>
                  <a:srgbClr val="E2E8F0"/>
                </a:solidFill>
                <a:latin typeface="Consolas"/>
                <a:cs typeface="Consolas"/>
              </a:rPr>
              <a:t>    ip: '192.168.56.11', ... },</a:t>
            </a:r>
          </a:p>
          <a:p>
            <a:pPr>
              <a:lnSpc>
                <a:spcPct val="110000"/>
              </a:lnSpc>
            </a:pPr>
            <a:r>
              <a:rPr sz="1100">
                <a:solidFill>
                  <a:srgbClr val="E2E8F0"/>
                </a:solidFill>
                <a:latin typeface="Consolas"/>
                <a:cs typeface="Consolas"/>
              </a:rPr>
              <a:t>  { name: 'k3s-worker-2',</a:t>
            </a:r>
          </a:p>
          <a:p>
            <a:pPr>
              <a:lnSpc>
                <a:spcPct val="110000"/>
              </a:lnSpc>
            </a:pPr>
            <a:r>
              <a:rPr sz="1100">
                <a:solidFill>
                  <a:srgbClr val="E2E8F0"/>
                </a:solidFill>
                <a:latin typeface="Consolas"/>
                <a:cs typeface="Consolas"/>
              </a:rPr>
              <a:t>    ip: '192.168.56.12', ... },</a:t>
            </a:r>
          </a:p>
          <a:p>
            <a:pPr>
              <a:lnSpc>
                <a:spcPct val="110000"/>
              </a:lnSpc>
            </a:pPr>
            <a:r>
              <a:rPr sz="1100">
                <a:solidFill>
                  <a:srgbClr val="E2E8F0"/>
                </a:solidFill>
                <a:latin typeface="Consolas"/>
                <a:cs typeface="Consolas"/>
              </a:rPr>
              <a:t>  { name: 'k3s-worker-3',</a:t>
            </a:r>
          </a:p>
          <a:p>
            <a:pPr>
              <a:lnSpc>
                <a:spcPct val="110000"/>
              </a:lnSpc>
            </a:pPr>
            <a:r>
              <a:rPr sz="1100">
                <a:solidFill>
                  <a:srgbClr val="E2E8F0"/>
                </a:solidFill>
                <a:latin typeface="Consolas"/>
                <a:cs typeface="Consolas"/>
              </a:rPr>
              <a:t>    ip: '192.168.56.13',</a:t>
            </a:r>
          </a:p>
          <a:p>
            <a:pPr>
              <a:lnSpc>
                <a:spcPct val="110000"/>
              </a:lnSpc>
            </a:pPr>
            <a:r>
              <a:rPr sz="1100">
                <a:solidFill>
                  <a:srgbClr val="E2E8F0"/>
                </a:solidFill>
                <a:latin typeface="Consolas"/>
                <a:cs typeface="Consolas"/>
              </a:rPr>
              <a:t>    autostart: false }</a:t>
            </a:r>
          </a:p>
          <a:p>
            <a:pPr>
              <a:lnSpc>
                <a:spcPct val="110000"/>
              </a:lnSpc>
            </a:pPr>
            <a:r>
              <a:rPr sz="1100">
                <a:solidFill>
                  <a:srgbClr val="E2E8F0"/>
                </a:solidFill>
                <a:latin typeface="Consolas"/>
                <a:cs typeface="Consolas"/>
              </a:rPr>
              <a:t>]</a:t>
            </a:r>
          </a:p>
        </p:txBody>
      </p:sp>
      <p:sp>
        <p:nvSpPr>
          <p:cNvPr id="12" name="TextBox 11"/>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13" name="TextBox 12"/>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10 / 21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TECNOLOGIAS</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Ansible - configuracion automatizada</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2</a:t>
            </a:r>
          </a:p>
        </p:txBody>
      </p:sp>
      <p:sp>
        <p:nvSpPr>
          <p:cNvPr id="7" name="TextBox 6"/>
          <p:cNvSpPr txBox="1"/>
          <p:nvPr/>
        </p:nvSpPr>
        <p:spPr>
          <a:xfrm>
            <a:off x="546100" y="1651000"/>
            <a:ext cx="11150600" cy="3556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Que hace Ansible en este POC, paso por paso</a:t>
            </a:r>
          </a:p>
        </p:txBody>
      </p:sp>
      <p:sp>
        <p:nvSpPr>
          <p:cNvPr id="8" name="Rectangle 7"/>
          <p:cNvSpPr/>
          <p:nvPr/>
        </p:nvSpPr>
        <p:spPr>
          <a:xfrm>
            <a:off x="546100" y="2159000"/>
            <a:ext cx="2705100" cy="1143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6100" y="2159000"/>
            <a:ext cx="2705100" cy="635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3100" y="2311400"/>
            <a:ext cx="2451100" cy="304800"/>
          </a:xfrm>
          <a:prstGeom prst="rect">
            <a:avLst/>
          </a:prstGeom>
          <a:noFill/>
        </p:spPr>
        <p:txBody>
          <a:bodyPr wrap="square" lIns="0" tIns="0" rIns="0" bIns="0" anchor="t">
            <a:spAutoFit/>
          </a:bodyPr>
          <a:lstStyle/>
          <a:p>
            <a:pPr algn="ctr">
              <a:lnSpc>
                <a:spcPct val="115000"/>
              </a:lnSpc>
            </a:pPr>
            <a:r>
              <a:rPr sz="1400" b="1">
                <a:solidFill>
                  <a:srgbClr val="1A2332"/>
                </a:solidFill>
                <a:latin typeface="Consolas"/>
                <a:cs typeface="Consolas"/>
              </a:rPr>
              <a:t>common</a:t>
            </a:r>
          </a:p>
        </p:txBody>
      </p:sp>
      <p:sp>
        <p:nvSpPr>
          <p:cNvPr id="11" name="TextBox 10"/>
          <p:cNvSpPr txBox="1"/>
          <p:nvPr/>
        </p:nvSpPr>
        <p:spPr>
          <a:xfrm>
            <a:off x="673100" y="2667000"/>
            <a:ext cx="2451100" cy="5080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Prepara SO</a:t>
            </a:r>
          </a:p>
          <a:p>
            <a:pPr algn="ctr">
              <a:lnSpc>
                <a:spcPct val="115000"/>
              </a:lnSpc>
            </a:pPr>
            <a:r>
              <a:rPr sz="1100">
                <a:solidFill>
                  <a:srgbClr val="4A5568"/>
                </a:solidFill>
                <a:latin typeface="Calibri"/>
                <a:cs typeface="Calibri"/>
              </a:rPr>
              <a:t>kernel, sysctl, firewall</a:t>
            </a:r>
          </a:p>
        </p:txBody>
      </p:sp>
      <p:sp>
        <p:nvSpPr>
          <p:cNvPr id="12" name="TextBox 11"/>
          <p:cNvSpPr txBox="1"/>
          <p:nvPr/>
        </p:nvSpPr>
        <p:spPr>
          <a:xfrm>
            <a:off x="3225800" y="2578100"/>
            <a:ext cx="127000" cy="304800"/>
          </a:xfrm>
          <a:prstGeom prst="rect">
            <a:avLst/>
          </a:prstGeom>
          <a:noFill/>
        </p:spPr>
        <p:txBody>
          <a:bodyPr wrap="square" lIns="0" tIns="0" rIns="0" bIns="0" anchor="t">
            <a:spAutoFit/>
          </a:bodyPr>
          <a:lstStyle/>
          <a:p>
            <a:pPr algn="ctr">
              <a:lnSpc>
                <a:spcPct val="115000"/>
              </a:lnSpc>
            </a:pPr>
            <a:endParaRPr b="1">
              <a:solidFill>
                <a:srgbClr val="326CE5"/>
              </a:solidFill>
              <a:latin typeface="Calibri"/>
              <a:cs typeface="Calibri"/>
            </a:endParaRPr>
          </a:p>
        </p:txBody>
      </p:sp>
      <p:sp>
        <p:nvSpPr>
          <p:cNvPr id="13" name="Rectangle 12"/>
          <p:cNvSpPr/>
          <p:nvPr/>
        </p:nvSpPr>
        <p:spPr>
          <a:xfrm>
            <a:off x="3327400" y="2159000"/>
            <a:ext cx="2705100" cy="1143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27400" y="2159000"/>
            <a:ext cx="2705100" cy="635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54400" y="2311400"/>
            <a:ext cx="2451100" cy="304800"/>
          </a:xfrm>
          <a:prstGeom prst="rect">
            <a:avLst/>
          </a:prstGeom>
          <a:noFill/>
        </p:spPr>
        <p:txBody>
          <a:bodyPr wrap="square" lIns="0" tIns="0" rIns="0" bIns="0" anchor="t">
            <a:spAutoFit/>
          </a:bodyPr>
          <a:lstStyle/>
          <a:p>
            <a:pPr algn="ctr">
              <a:lnSpc>
                <a:spcPct val="115000"/>
              </a:lnSpc>
            </a:pPr>
            <a:r>
              <a:rPr sz="1400" b="1">
                <a:solidFill>
                  <a:srgbClr val="1A2332"/>
                </a:solidFill>
                <a:latin typeface="Consolas"/>
                <a:cs typeface="Consolas"/>
              </a:rPr>
              <a:t>k3s_server</a:t>
            </a:r>
          </a:p>
        </p:txBody>
      </p:sp>
      <p:sp>
        <p:nvSpPr>
          <p:cNvPr id="16" name="TextBox 15"/>
          <p:cNvSpPr txBox="1"/>
          <p:nvPr/>
        </p:nvSpPr>
        <p:spPr>
          <a:xfrm>
            <a:off x="3454400" y="2667000"/>
            <a:ext cx="2451100" cy="5080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Instala el</a:t>
            </a:r>
          </a:p>
          <a:p>
            <a:pPr algn="ctr">
              <a:lnSpc>
                <a:spcPct val="115000"/>
              </a:lnSpc>
            </a:pPr>
            <a:r>
              <a:rPr sz="1100">
                <a:solidFill>
                  <a:srgbClr val="4A5568"/>
                </a:solidFill>
                <a:latin typeface="Calibri"/>
                <a:cs typeface="Calibri"/>
              </a:rPr>
              <a:t>Control Plane</a:t>
            </a:r>
          </a:p>
        </p:txBody>
      </p:sp>
      <p:sp>
        <p:nvSpPr>
          <p:cNvPr id="17" name="TextBox 16"/>
          <p:cNvSpPr txBox="1"/>
          <p:nvPr/>
        </p:nvSpPr>
        <p:spPr>
          <a:xfrm>
            <a:off x="6045200" y="2578100"/>
            <a:ext cx="127000" cy="304800"/>
          </a:xfrm>
          <a:prstGeom prst="rect">
            <a:avLst/>
          </a:prstGeom>
          <a:noFill/>
        </p:spPr>
        <p:txBody>
          <a:bodyPr wrap="square" lIns="0" tIns="0" rIns="0" bIns="0" anchor="t">
            <a:spAutoFit/>
          </a:bodyPr>
          <a:lstStyle/>
          <a:p>
            <a:pPr algn="ctr">
              <a:lnSpc>
                <a:spcPct val="115000"/>
              </a:lnSpc>
            </a:pPr>
            <a:endParaRPr b="1">
              <a:solidFill>
                <a:srgbClr val="326CE5"/>
              </a:solidFill>
              <a:latin typeface="Calibri"/>
              <a:cs typeface="Calibri"/>
            </a:endParaRPr>
          </a:p>
        </p:txBody>
      </p:sp>
      <p:sp>
        <p:nvSpPr>
          <p:cNvPr id="18" name="Rectangle 17"/>
          <p:cNvSpPr/>
          <p:nvPr/>
        </p:nvSpPr>
        <p:spPr>
          <a:xfrm>
            <a:off x="6108700" y="2159000"/>
            <a:ext cx="2705100" cy="1143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08700" y="2159000"/>
            <a:ext cx="2705100" cy="635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35700" y="2311400"/>
            <a:ext cx="2451100" cy="304800"/>
          </a:xfrm>
          <a:prstGeom prst="rect">
            <a:avLst/>
          </a:prstGeom>
          <a:noFill/>
        </p:spPr>
        <p:txBody>
          <a:bodyPr wrap="square" lIns="0" tIns="0" rIns="0" bIns="0" anchor="t">
            <a:spAutoFit/>
          </a:bodyPr>
          <a:lstStyle/>
          <a:p>
            <a:pPr algn="ctr">
              <a:lnSpc>
                <a:spcPct val="115000"/>
              </a:lnSpc>
            </a:pPr>
            <a:r>
              <a:rPr sz="1400" b="1">
                <a:solidFill>
                  <a:srgbClr val="1A2332"/>
                </a:solidFill>
                <a:latin typeface="Consolas"/>
                <a:cs typeface="Consolas"/>
              </a:rPr>
              <a:t>k3s_agent</a:t>
            </a:r>
          </a:p>
        </p:txBody>
      </p:sp>
      <p:sp>
        <p:nvSpPr>
          <p:cNvPr id="21" name="TextBox 20"/>
          <p:cNvSpPr txBox="1"/>
          <p:nvPr/>
        </p:nvSpPr>
        <p:spPr>
          <a:xfrm>
            <a:off x="6235700" y="2667000"/>
            <a:ext cx="2451100" cy="5080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Une los</a:t>
            </a:r>
          </a:p>
          <a:p>
            <a:pPr algn="ctr">
              <a:lnSpc>
                <a:spcPct val="115000"/>
              </a:lnSpc>
            </a:pPr>
            <a:r>
              <a:rPr sz="1100">
                <a:solidFill>
                  <a:srgbClr val="4A5568"/>
                </a:solidFill>
                <a:latin typeface="Calibri"/>
                <a:cs typeface="Calibri"/>
              </a:rPr>
              <a:t>Workers</a:t>
            </a:r>
          </a:p>
        </p:txBody>
      </p:sp>
      <p:sp>
        <p:nvSpPr>
          <p:cNvPr id="22" name="TextBox 21"/>
          <p:cNvSpPr txBox="1"/>
          <p:nvPr/>
        </p:nvSpPr>
        <p:spPr>
          <a:xfrm>
            <a:off x="8864600" y="2578100"/>
            <a:ext cx="127000" cy="304800"/>
          </a:xfrm>
          <a:prstGeom prst="rect">
            <a:avLst/>
          </a:prstGeom>
          <a:noFill/>
        </p:spPr>
        <p:txBody>
          <a:bodyPr wrap="square" lIns="0" tIns="0" rIns="0" bIns="0" anchor="t">
            <a:spAutoFit/>
          </a:bodyPr>
          <a:lstStyle/>
          <a:p>
            <a:pPr algn="ctr">
              <a:lnSpc>
                <a:spcPct val="115000"/>
              </a:lnSpc>
            </a:pPr>
            <a:endParaRPr b="1">
              <a:solidFill>
                <a:srgbClr val="326CE5"/>
              </a:solidFill>
              <a:latin typeface="Calibri"/>
              <a:cs typeface="Calibri"/>
            </a:endParaRPr>
          </a:p>
        </p:txBody>
      </p:sp>
      <p:sp>
        <p:nvSpPr>
          <p:cNvPr id="23" name="Rectangle 22"/>
          <p:cNvSpPr/>
          <p:nvPr/>
        </p:nvSpPr>
        <p:spPr>
          <a:xfrm>
            <a:off x="8890000" y="2159000"/>
            <a:ext cx="2705100" cy="1143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890000" y="2159000"/>
            <a:ext cx="2705100" cy="635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17000" y="2311400"/>
            <a:ext cx="2451100" cy="304800"/>
          </a:xfrm>
          <a:prstGeom prst="rect">
            <a:avLst/>
          </a:prstGeom>
          <a:noFill/>
        </p:spPr>
        <p:txBody>
          <a:bodyPr wrap="square" lIns="0" tIns="0" rIns="0" bIns="0" anchor="t">
            <a:spAutoFit/>
          </a:bodyPr>
          <a:lstStyle/>
          <a:p>
            <a:pPr algn="ctr">
              <a:lnSpc>
                <a:spcPct val="115000"/>
              </a:lnSpc>
            </a:pPr>
            <a:r>
              <a:rPr sz="1400" b="1">
                <a:solidFill>
                  <a:srgbClr val="1A2332"/>
                </a:solidFill>
                <a:latin typeface="Consolas"/>
                <a:cs typeface="Consolas"/>
              </a:rPr>
              <a:t>k3s_kubeconfig</a:t>
            </a:r>
          </a:p>
        </p:txBody>
      </p:sp>
      <p:sp>
        <p:nvSpPr>
          <p:cNvPr id="26" name="TextBox 25"/>
          <p:cNvSpPr txBox="1"/>
          <p:nvPr/>
        </p:nvSpPr>
        <p:spPr>
          <a:xfrm>
            <a:off x="9017000" y="2667000"/>
            <a:ext cx="2451100" cy="5080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Exporta el</a:t>
            </a:r>
          </a:p>
          <a:p>
            <a:pPr algn="ctr">
              <a:lnSpc>
                <a:spcPct val="115000"/>
              </a:lnSpc>
            </a:pPr>
            <a:r>
              <a:rPr sz="1100">
                <a:solidFill>
                  <a:srgbClr val="4A5568"/>
                </a:solidFill>
                <a:latin typeface="Calibri"/>
                <a:cs typeface="Calibri"/>
              </a:rPr>
              <a:t>kubeconfig</a:t>
            </a:r>
          </a:p>
        </p:txBody>
      </p:sp>
      <p:sp>
        <p:nvSpPr>
          <p:cNvPr id="27" name="TextBox 26"/>
          <p:cNvSpPr txBox="1"/>
          <p:nvPr/>
        </p:nvSpPr>
        <p:spPr>
          <a:xfrm>
            <a:off x="11684000" y="2578100"/>
            <a:ext cx="127000" cy="304800"/>
          </a:xfrm>
          <a:prstGeom prst="rect">
            <a:avLst/>
          </a:prstGeom>
          <a:noFill/>
        </p:spPr>
        <p:txBody>
          <a:bodyPr wrap="square" lIns="0" tIns="0" rIns="0" bIns="0" anchor="t">
            <a:spAutoFit/>
          </a:bodyPr>
          <a:lstStyle/>
          <a:p>
            <a:pPr algn="ctr">
              <a:lnSpc>
                <a:spcPct val="115000"/>
              </a:lnSpc>
            </a:pPr>
            <a:endParaRPr b="1">
              <a:solidFill>
                <a:srgbClr val="326CE5"/>
              </a:solidFill>
              <a:latin typeface="Calibri"/>
              <a:cs typeface="Calibri"/>
            </a:endParaRPr>
          </a:p>
        </p:txBody>
      </p:sp>
      <p:sp>
        <p:nvSpPr>
          <p:cNvPr id="28" name="Rectangle 27"/>
          <p:cNvSpPr/>
          <p:nvPr/>
        </p:nvSpPr>
        <p:spPr>
          <a:xfrm>
            <a:off x="1930400" y="3429000"/>
            <a:ext cx="2705100" cy="1143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930400" y="3429000"/>
            <a:ext cx="2705100" cy="635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57400" y="3581400"/>
            <a:ext cx="2451100" cy="304800"/>
          </a:xfrm>
          <a:prstGeom prst="rect">
            <a:avLst/>
          </a:prstGeom>
          <a:noFill/>
        </p:spPr>
        <p:txBody>
          <a:bodyPr wrap="square" lIns="0" tIns="0" rIns="0" bIns="0" anchor="t">
            <a:spAutoFit/>
          </a:bodyPr>
          <a:lstStyle/>
          <a:p>
            <a:pPr algn="ctr">
              <a:lnSpc>
                <a:spcPct val="115000"/>
              </a:lnSpc>
            </a:pPr>
            <a:r>
              <a:rPr sz="1400" b="1">
                <a:solidFill>
                  <a:srgbClr val="1A2332"/>
                </a:solidFill>
                <a:latin typeface="Consolas"/>
                <a:cs typeface="Consolas"/>
              </a:rPr>
              <a:t>ingress</a:t>
            </a:r>
          </a:p>
        </p:txBody>
      </p:sp>
      <p:sp>
        <p:nvSpPr>
          <p:cNvPr id="31" name="TextBox 30"/>
          <p:cNvSpPr txBox="1"/>
          <p:nvPr/>
        </p:nvSpPr>
        <p:spPr>
          <a:xfrm>
            <a:off x="2057400" y="3937000"/>
            <a:ext cx="2451100" cy="5080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Despliega</a:t>
            </a:r>
          </a:p>
          <a:p>
            <a:pPr algn="ctr">
              <a:lnSpc>
                <a:spcPct val="115000"/>
              </a:lnSpc>
            </a:pPr>
            <a:r>
              <a:rPr sz="1100">
                <a:solidFill>
                  <a:srgbClr val="4A5568"/>
                </a:solidFill>
                <a:latin typeface="Calibri"/>
                <a:cs typeface="Calibri"/>
              </a:rPr>
              <a:t>ingress-nginx</a:t>
            </a:r>
          </a:p>
        </p:txBody>
      </p:sp>
      <p:sp>
        <p:nvSpPr>
          <p:cNvPr id="32" name="TextBox 31"/>
          <p:cNvSpPr txBox="1"/>
          <p:nvPr/>
        </p:nvSpPr>
        <p:spPr>
          <a:xfrm>
            <a:off x="3378200" y="3822700"/>
            <a:ext cx="127000" cy="304800"/>
          </a:xfrm>
          <a:prstGeom prst="rect">
            <a:avLst/>
          </a:prstGeom>
          <a:noFill/>
        </p:spPr>
        <p:txBody>
          <a:bodyPr wrap="square" lIns="0" tIns="0" rIns="0" bIns="0" anchor="t">
            <a:spAutoFit/>
          </a:bodyPr>
          <a:lstStyle/>
          <a:p>
            <a:pPr algn="ctr">
              <a:lnSpc>
                <a:spcPct val="115000"/>
              </a:lnSpc>
            </a:pPr>
            <a:endParaRPr b="1">
              <a:solidFill>
                <a:srgbClr val="326CE5"/>
              </a:solidFill>
              <a:latin typeface="Calibri"/>
              <a:cs typeface="Calibri"/>
            </a:endParaRPr>
          </a:p>
        </p:txBody>
      </p:sp>
      <p:sp>
        <p:nvSpPr>
          <p:cNvPr id="33" name="Rectangle 32"/>
          <p:cNvSpPr/>
          <p:nvPr/>
        </p:nvSpPr>
        <p:spPr>
          <a:xfrm>
            <a:off x="4711700" y="3429000"/>
            <a:ext cx="2705100" cy="1143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711700" y="3429000"/>
            <a:ext cx="2705100" cy="635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38700" y="3581400"/>
            <a:ext cx="2451100" cy="304800"/>
          </a:xfrm>
          <a:prstGeom prst="rect">
            <a:avLst/>
          </a:prstGeom>
          <a:noFill/>
        </p:spPr>
        <p:txBody>
          <a:bodyPr wrap="square" lIns="0" tIns="0" rIns="0" bIns="0" anchor="t">
            <a:spAutoFit/>
          </a:bodyPr>
          <a:lstStyle/>
          <a:p>
            <a:pPr algn="ctr">
              <a:lnSpc>
                <a:spcPct val="115000"/>
              </a:lnSpc>
            </a:pPr>
            <a:r>
              <a:rPr sz="1400" b="1">
                <a:solidFill>
                  <a:srgbClr val="1A2332"/>
                </a:solidFill>
                <a:latin typeface="Consolas"/>
                <a:cs typeface="Consolas"/>
              </a:rPr>
              <a:t>the_store_images</a:t>
            </a:r>
          </a:p>
        </p:txBody>
      </p:sp>
      <p:sp>
        <p:nvSpPr>
          <p:cNvPr id="36" name="TextBox 35"/>
          <p:cNvSpPr txBox="1"/>
          <p:nvPr/>
        </p:nvSpPr>
        <p:spPr>
          <a:xfrm>
            <a:off x="4838700" y="3937000"/>
            <a:ext cx="2451100" cy="5080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Distribuye</a:t>
            </a:r>
          </a:p>
          <a:p>
            <a:pPr algn="ctr">
              <a:lnSpc>
                <a:spcPct val="115000"/>
              </a:lnSpc>
            </a:pPr>
            <a:r>
              <a:rPr sz="1100">
                <a:solidFill>
                  <a:srgbClr val="4A5568"/>
                </a:solidFill>
                <a:latin typeface="Calibri"/>
                <a:cs typeface="Calibri"/>
              </a:rPr>
              <a:t>imagenes locales</a:t>
            </a:r>
          </a:p>
        </p:txBody>
      </p:sp>
      <p:sp>
        <p:nvSpPr>
          <p:cNvPr id="37" name="TextBox 36"/>
          <p:cNvSpPr txBox="1"/>
          <p:nvPr/>
        </p:nvSpPr>
        <p:spPr>
          <a:xfrm>
            <a:off x="6197600" y="3822700"/>
            <a:ext cx="127000" cy="304800"/>
          </a:xfrm>
          <a:prstGeom prst="rect">
            <a:avLst/>
          </a:prstGeom>
          <a:noFill/>
        </p:spPr>
        <p:txBody>
          <a:bodyPr wrap="square" lIns="0" tIns="0" rIns="0" bIns="0" anchor="t">
            <a:spAutoFit/>
          </a:bodyPr>
          <a:lstStyle/>
          <a:p>
            <a:pPr algn="ctr">
              <a:lnSpc>
                <a:spcPct val="115000"/>
              </a:lnSpc>
            </a:pPr>
            <a:endParaRPr b="1">
              <a:solidFill>
                <a:srgbClr val="326CE5"/>
              </a:solidFill>
              <a:latin typeface="Calibri"/>
              <a:cs typeface="Calibri"/>
            </a:endParaRPr>
          </a:p>
        </p:txBody>
      </p:sp>
      <p:sp>
        <p:nvSpPr>
          <p:cNvPr id="38" name="Rectangle 37"/>
          <p:cNvSpPr/>
          <p:nvPr/>
        </p:nvSpPr>
        <p:spPr>
          <a:xfrm>
            <a:off x="7493000" y="3429000"/>
            <a:ext cx="2705100" cy="1143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493000" y="3429000"/>
            <a:ext cx="2705100" cy="635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620000" y="3581400"/>
            <a:ext cx="2451100" cy="304800"/>
          </a:xfrm>
          <a:prstGeom prst="rect">
            <a:avLst/>
          </a:prstGeom>
          <a:noFill/>
        </p:spPr>
        <p:txBody>
          <a:bodyPr wrap="square" lIns="0" tIns="0" rIns="0" bIns="0" anchor="t">
            <a:spAutoFit/>
          </a:bodyPr>
          <a:lstStyle/>
          <a:p>
            <a:pPr algn="ctr">
              <a:lnSpc>
                <a:spcPct val="115000"/>
              </a:lnSpc>
            </a:pPr>
            <a:r>
              <a:rPr sz="1400" b="1">
                <a:solidFill>
                  <a:srgbClr val="1A2332"/>
                </a:solidFill>
                <a:latin typeface="Consolas"/>
                <a:cs typeface="Consolas"/>
              </a:rPr>
              <a:t>the_store_deploy</a:t>
            </a:r>
          </a:p>
        </p:txBody>
      </p:sp>
      <p:sp>
        <p:nvSpPr>
          <p:cNvPr id="41" name="TextBox 40"/>
          <p:cNvSpPr txBox="1"/>
          <p:nvPr/>
        </p:nvSpPr>
        <p:spPr>
          <a:xfrm>
            <a:off x="7620000" y="3937000"/>
            <a:ext cx="2451100" cy="5080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Aplica los</a:t>
            </a:r>
          </a:p>
          <a:p>
            <a:pPr algn="ctr">
              <a:lnSpc>
                <a:spcPct val="115000"/>
              </a:lnSpc>
            </a:pPr>
            <a:r>
              <a:rPr sz="1100">
                <a:solidFill>
                  <a:srgbClr val="4A5568"/>
                </a:solidFill>
                <a:latin typeface="Calibri"/>
                <a:cs typeface="Calibri"/>
              </a:rPr>
              <a:t>manifiestos</a:t>
            </a:r>
          </a:p>
        </p:txBody>
      </p:sp>
      <p:sp>
        <p:nvSpPr>
          <p:cNvPr id="42" name="TextBox 41"/>
          <p:cNvSpPr txBox="1"/>
          <p:nvPr/>
        </p:nvSpPr>
        <p:spPr>
          <a:xfrm>
            <a:off x="546100" y="4762500"/>
            <a:ext cx="11150600" cy="3556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Caracteristicas que nos sirven aca</a:t>
            </a:r>
          </a:p>
        </p:txBody>
      </p:sp>
      <p:sp>
        <p:nvSpPr>
          <p:cNvPr id="43" name="TextBox 42"/>
          <p:cNvSpPr txBox="1"/>
          <p:nvPr/>
        </p:nvSpPr>
        <p:spPr>
          <a:xfrm>
            <a:off x="546100" y="5181600"/>
            <a:ext cx="11150600" cy="1143000"/>
          </a:xfrm>
          <a:prstGeom prst="rect">
            <a:avLst/>
          </a:prstGeom>
          <a:noFill/>
        </p:spPr>
        <p:txBody>
          <a:bodyPr wrap="square" lIns="0" tIns="0" rIns="0" bIns="0">
            <a:spAutoFit/>
          </a:bodyPr>
          <a:lstStyle/>
          <a:p>
            <a:pPr algn="l">
              <a:lnSpc>
                <a:spcPct val="125000"/>
              </a:lnSpc>
              <a:spcAft>
                <a:spcPts val="800"/>
              </a:spcAft>
            </a:pPr>
            <a:r>
              <a:rPr sz="1300">
                <a:solidFill>
                  <a:srgbClr val="4A5568"/>
                </a:solidFill>
                <a:latin typeface="Calibri"/>
                <a:cs typeface="Calibri"/>
              </a:rPr>
              <a:t>■  Idempotencia: re-ejecutar no rompe el entorno; solo cambia lo que difiere</a:t>
            </a:r>
          </a:p>
          <a:p>
            <a:pPr algn="l">
              <a:lnSpc>
                <a:spcPct val="125000"/>
              </a:lnSpc>
              <a:spcAft>
                <a:spcPts val="800"/>
              </a:spcAft>
            </a:pPr>
            <a:r>
              <a:rPr sz="1300">
                <a:solidFill>
                  <a:srgbClr val="4A5568"/>
                </a:solidFill>
                <a:latin typeface="Calibri"/>
                <a:cs typeface="Calibri"/>
              </a:rPr>
              <a:t>■  Sin agentes: usa SSH, no hace falta instalar nada en los nodos</a:t>
            </a:r>
          </a:p>
          <a:p>
            <a:pPr algn="l">
              <a:lnSpc>
                <a:spcPct val="125000"/>
              </a:lnSpc>
              <a:spcAft>
                <a:spcPts val="800"/>
              </a:spcAft>
            </a:pPr>
            <a:r>
              <a:rPr sz="1300">
                <a:solidFill>
                  <a:srgbClr val="4A5568"/>
                </a:solidFill>
                <a:latin typeface="Calibri"/>
                <a:cs typeface="Calibri"/>
              </a:rPr>
              <a:t>■  Inventario YAML por grupos (control_plane, workers); facil sumar nodos</a:t>
            </a:r>
          </a:p>
          <a:p>
            <a:pPr algn="l">
              <a:lnSpc>
                <a:spcPct val="125000"/>
              </a:lnSpc>
              <a:spcAft>
                <a:spcPts val="800"/>
              </a:spcAft>
            </a:pPr>
            <a:r>
              <a:rPr sz="1300">
                <a:solidFill>
                  <a:srgbClr val="4A5568"/>
                </a:solidFill>
                <a:latin typeface="Calibri"/>
                <a:cs typeface="Calibri"/>
              </a:rPr>
              <a:t>■  El token de union K3s lo lee Ansible automaticamente desde el Control Plane</a:t>
            </a:r>
          </a:p>
        </p:txBody>
      </p:sp>
      <p:sp>
        <p:nvSpPr>
          <p:cNvPr id="44" name="TextBox 43"/>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45" name="TextBox 44"/>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11 / 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TECNOLOGIAS</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K3s - Kubernetes liviano</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2</a:t>
            </a:r>
          </a:p>
        </p:txBody>
      </p:sp>
      <p:sp>
        <p:nvSpPr>
          <p:cNvPr id="7" name="TextBox 6"/>
          <p:cNvSpPr txBox="1"/>
          <p:nvPr/>
        </p:nvSpPr>
        <p:spPr>
          <a:xfrm>
            <a:off x="546100" y="1651000"/>
            <a:ext cx="5486400" cy="3810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Por que K3s y no Kubernetes 'completo'</a:t>
            </a:r>
          </a:p>
        </p:txBody>
      </p:sp>
      <p:sp>
        <p:nvSpPr>
          <p:cNvPr id="8" name="TextBox 7"/>
          <p:cNvSpPr txBox="1"/>
          <p:nvPr/>
        </p:nvSpPr>
        <p:spPr>
          <a:xfrm>
            <a:off x="546100" y="2095500"/>
            <a:ext cx="5486400" cy="4191000"/>
          </a:xfrm>
          <a:prstGeom prst="rect">
            <a:avLst/>
          </a:prstGeom>
          <a:noFill/>
        </p:spPr>
        <p:txBody>
          <a:bodyPr wrap="square" lIns="0" tIns="0" rIns="0" bIns="0">
            <a:spAutoFit/>
          </a:bodyPr>
          <a:lstStyle/>
          <a:p>
            <a:pPr algn="l">
              <a:lnSpc>
                <a:spcPct val="130000"/>
              </a:lnSpc>
              <a:spcAft>
                <a:spcPts val="800"/>
              </a:spcAft>
            </a:pPr>
            <a:r>
              <a:rPr sz="1400">
                <a:solidFill>
                  <a:srgbClr val="4A5568"/>
                </a:solidFill>
                <a:latin typeface="Calibri"/>
                <a:cs typeface="Calibri"/>
              </a:rPr>
              <a:t>■  Distribucion oficial certificada (CNCF)</a:t>
            </a:r>
          </a:p>
          <a:p>
            <a:pPr algn="l">
              <a:lnSpc>
                <a:spcPct val="130000"/>
              </a:lnSpc>
              <a:spcAft>
                <a:spcPts val="800"/>
              </a:spcAft>
            </a:pPr>
            <a:r>
              <a:rPr sz="1400">
                <a:solidFill>
                  <a:srgbClr val="4A5568"/>
                </a:solidFill>
                <a:latin typeface="Calibri"/>
                <a:cs typeface="Calibri"/>
              </a:rPr>
              <a:t>■  Un binario unico &lt; 100 MB</a:t>
            </a:r>
          </a:p>
          <a:p>
            <a:pPr algn="l">
              <a:lnSpc>
                <a:spcPct val="130000"/>
              </a:lnSpc>
              <a:spcAft>
                <a:spcPts val="800"/>
              </a:spcAft>
            </a:pPr>
            <a:r>
              <a:rPr sz="1400">
                <a:solidFill>
                  <a:srgbClr val="4A5568"/>
                </a:solidFill>
                <a:latin typeface="Calibri"/>
                <a:cs typeface="Calibri"/>
              </a:rPr>
              <a:t>■  Datastore embebido, no hace falta etcd externo</a:t>
            </a:r>
          </a:p>
          <a:p>
            <a:pPr algn="l">
              <a:lnSpc>
                <a:spcPct val="130000"/>
              </a:lnSpc>
              <a:spcAft>
                <a:spcPts val="800"/>
              </a:spcAft>
            </a:pPr>
            <a:r>
              <a:rPr sz="1400">
                <a:solidFill>
                  <a:srgbClr val="4A5568"/>
                </a:solidFill>
                <a:latin typeface="Calibri"/>
                <a:cs typeface="Calibri"/>
              </a:rPr>
              <a:t>■  Pensada para edge, IoT y laboratorios</a:t>
            </a:r>
          </a:p>
          <a:p>
            <a:pPr algn="l">
              <a:lnSpc>
                <a:spcPct val="130000"/>
              </a:lnSpc>
              <a:spcAft>
                <a:spcPts val="800"/>
              </a:spcAft>
            </a:pPr>
            <a:r>
              <a:rPr sz="1400">
                <a:solidFill>
                  <a:srgbClr val="4A5568"/>
                </a:solidFill>
                <a:latin typeface="Calibri"/>
                <a:cs typeface="Calibri"/>
              </a:rPr>
              <a:t>■  Las mismas APIs que K8s 'grande': kubectl funciona igual</a:t>
            </a:r>
          </a:p>
        </p:txBody>
      </p:sp>
      <p:sp>
        <p:nvSpPr>
          <p:cNvPr id="9" name="TextBox 8"/>
          <p:cNvSpPr txBox="1"/>
          <p:nvPr/>
        </p:nvSpPr>
        <p:spPr>
          <a:xfrm>
            <a:off x="6400800" y="1651000"/>
            <a:ext cx="5308600" cy="3810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Como esta configurado nuestro K3s</a:t>
            </a:r>
          </a:p>
        </p:txBody>
      </p:sp>
      <p:sp>
        <p:nvSpPr>
          <p:cNvPr id="10" name="TextBox 9"/>
          <p:cNvSpPr txBox="1"/>
          <p:nvPr/>
        </p:nvSpPr>
        <p:spPr>
          <a:xfrm>
            <a:off x="6400800" y="2095500"/>
            <a:ext cx="5308600" cy="4191000"/>
          </a:xfrm>
          <a:prstGeom prst="rect">
            <a:avLst/>
          </a:prstGeom>
          <a:noFill/>
        </p:spPr>
        <p:txBody>
          <a:bodyPr wrap="square" lIns="0" tIns="0" rIns="0" bIns="0">
            <a:spAutoFit/>
          </a:bodyPr>
          <a:lstStyle/>
          <a:p>
            <a:pPr algn="l">
              <a:lnSpc>
                <a:spcPct val="130000"/>
              </a:lnSpc>
              <a:spcAft>
                <a:spcPts val="800"/>
              </a:spcAft>
            </a:pPr>
            <a:r>
              <a:rPr sz="1400">
                <a:solidFill>
                  <a:srgbClr val="4A5568"/>
                </a:solidFill>
                <a:latin typeface="Calibri"/>
                <a:cs typeface="Calibri"/>
              </a:rPr>
              <a:t>■  Version pinneada v1.35.5+k3s1</a:t>
            </a:r>
          </a:p>
          <a:p>
            <a:pPr algn="l">
              <a:lnSpc>
                <a:spcPct val="130000"/>
              </a:lnSpc>
              <a:spcAft>
                <a:spcPts val="800"/>
              </a:spcAft>
            </a:pPr>
            <a:r>
              <a:rPr sz="1400">
                <a:solidFill>
                  <a:srgbClr val="4A5568"/>
                </a:solidFill>
                <a:latin typeface="Calibri"/>
                <a:cs typeface="Calibri"/>
              </a:rPr>
              <a:t>■  Pod CIDR 10.42.0.0/16  -  Service CIDR 10.43.0.0/16</a:t>
            </a:r>
          </a:p>
          <a:p>
            <a:pPr algn="l">
              <a:lnSpc>
                <a:spcPct val="130000"/>
              </a:lnSpc>
              <a:spcAft>
                <a:spcPts val="800"/>
              </a:spcAft>
            </a:pPr>
            <a:r>
              <a:rPr sz="1400">
                <a:solidFill>
                  <a:srgbClr val="4A5568"/>
                </a:solidFill>
                <a:latin typeface="Calibri"/>
                <a:cs typeface="Calibri"/>
              </a:rPr>
              <a:t>■  Flannel VXLAN sobre la interfaz eth1 (red privada)</a:t>
            </a:r>
          </a:p>
          <a:p>
            <a:pPr algn="l">
              <a:lnSpc>
                <a:spcPct val="130000"/>
              </a:lnSpc>
              <a:spcAft>
                <a:spcPts val="800"/>
              </a:spcAft>
            </a:pPr>
            <a:r>
              <a:rPr sz="1400">
                <a:solidFill>
                  <a:srgbClr val="4A5568"/>
                </a:solidFill>
                <a:latin typeface="Calibri"/>
                <a:cs typeface="Calibri"/>
              </a:rPr>
              <a:t>■  Traefik desactivado (usamos ingress-nginx)</a:t>
            </a:r>
          </a:p>
          <a:p>
            <a:pPr algn="l">
              <a:lnSpc>
                <a:spcPct val="130000"/>
              </a:lnSpc>
              <a:spcAft>
                <a:spcPts val="800"/>
              </a:spcAft>
            </a:pPr>
            <a:r>
              <a:rPr sz="1400">
                <a:solidFill>
                  <a:srgbClr val="4A5568"/>
                </a:solidFill>
                <a:latin typeface="Calibri"/>
                <a:cs typeface="Calibri"/>
              </a:rPr>
              <a:t>■  API Server en 192.168.56.10:6443</a:t>
            </a:r>
          </a:p>
        </p:txBody>
      </p:sp>
      <p:sp>
        <p:nvSpPr>
          <p:cNvPr id="11" name="TextBox 10"/>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12" name="TextBox 11"/>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12 / 21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TECNOLOGIAS</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Red: del host al pod</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2</a:t>
            </a:r>
          </a:p>
        </p:txBody>
      </p:sp>
      <p:sp>
        <p:nvSpPr>
          <p:cNvPr id="7" name="TextBox 6"/>
          <p:cNvSpPr txBox="1"/>
          <p:nvPr/>
        </p:nvSpPr>
        <p:spPr>
          <a:xfrm>
            <a:off x="546100" y="1651000"/>
            <a:ext cx="11150600" cy="3302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Como entra una request HTTP a la tienda</a:t>
            </a:r>
          </a:p>
        </p:txBody>
      </p:sp>
      <p:sp>
        <p:nvSpPr>
          <p:cNvPr id="8" name="Rectangle 7"/>
          <p:cNvSpPr/>
          <p:nvPr/>
        </p:nvSpPr>
        <p:spPr>
          <a:xfrm>
            <a:off x="546100" y="2222500"/>
            <a:ext cx="2476500" cy="1270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6100" y="2222500"/>
            <a:ext cx="2476500"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8500" y="2374900"/>
            <a:ext cx="2171700" cy="457200"/>
          </a:xfrm>
          <a:prstGeom prst="rect">
            <a:avLst/>
          </a:prstGeom>
          <a:noFill/>
        </p:spPr>
        <p:txBody>
          <a:bodyPr wrap="square" lIns="0" tIns="0" rIns="0" bIns="0" anchor="ctr" anchorCtr="0">
            <a:spAutoFit/>
          </a:bodyPr>
          <a:lstStyle/>
          <a:p>
            <a:pPr algn="ctr">
              <a:lnSpc>
                <a:spcPct val="115000"/>
              </a:lnSpc>
            </a:pPr>
            <a:r>
              <a:rPr sz="1300" b="1">
                <a:solidFill>
                  <a:srgbClr val="1A2332"/>
                </a:solidFill>
                <a:latin typeface="Calibri"/>
                <a:cs typeface="Calibri"/>
              </a:rPr>
              <a:t>Host</a:t>
            </a:r>
          </a:p>
          <a:p>
            <a:pPr algn="ctr">
              <a:lnSpc>
                <a:spcPct val="115000"/>
              </a:lnSpc>
            </a:pPr>
            <a:r>
              <a:rPr sz="1300" b="1">
                <a:solidFill>
                  <a:srgbClr val="1A2332"/>
                </a:solidFill>
                <a:latin typeface="Calibri"/>
                <a:cs typeface="Calibri"/>
              </a:rPr>
              <a:t>http://192.168.56.10</a:t>
            </a:r>
          </a:p>
        </p:txBody>
      </p:sp>
      <p:sp>
        <p:nvSpPr>
          <p:cNvPr id="11" name="TextBox 10"/>
          <p:cNvSpPr txBox="1"/>
          <p:nvPr/>
        </p:nvSpPr>
        <p:spPr>
          <a:xfrm>
            <a:off x="698500" y="2882900"/>
            <a:ext cx="2171700" cy="5334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El usuario</a:t>
            </a:r>
          </a:p>
          <a:p>
            <a:pPr algn="ctr">
              <a:lnSpc>
                <a:spcPct val="115000"/>
              </a:lnSpc>
            </a:pPr>
            <a:r>
              <a:rPr sz="1100">
                <a:solidFill>
                  <a:srgbClr val="4A5568"/>
                </a:solidFill>
                <a:latin typeface="Calibri"/>
                <a:cs typeface="Calibri"/>
              </a:rPr>
              <a:t>(o curl)</a:t>
            </a:r>
          </a:p>
        </p:txBody>
      </p:sp>
      <p:sp>
        <p:nvSpPr>
          <p:cNvPr id="12" name="TextBox 11"/>
          <p:cNvSpPr txBox="1"/>
          <p:nvPr/>
        </p:nvSpPr>
        <p:spPr>
          <a:xfrm>
            <a:off x="3073400" y="2705100"/>
            <a:ext cx="203200" cy="304800"/>
          </a:xfrm>
          <a:prstGeom prst="rect">
            <a:avLst/>
          </a:prstGeom>
          <a:noFill/>
        </p:spPr>
        <p:txBody>
          <a:bodyPr wrap="square" lIns="0" tIns="0" rIns="0" bIns="0" anchor="t">
            <a:spAutoFit/>
          </a:bodyPr>
          <a:lstStyle/>
          <a:p>
            <a:pPr algn="ctr">
              <a:lnSpc>
                <a:spcPct val="115000"/>
              </a:lnSpc>
            </a:pPr>
            <a:r>
              <a:rPr sz="2200" b="1">
                <a:solidFill>
                  <a:srgbClr val="326CE5"/>
                </a:solidFill>
                <a:latin typeface="Calibri"/>
                <a:cs typeface="Calibri"/>
              </a:rPr>
              <a:t>&gt;</a:t>
            </a:r>
          </a:p>
        </p:txBody>
      </p:sp>
      <p:sp>
        <p:nvSpPr>
          <p:cNvPr id="13" name="Rectangle 12"/>
          <p:cNvSpPr/>
          <p:nvPr/>
        </p:nvSpPr>
        <p:spPr>
          <a:xfrm>
            <a:off x="3340100" y="2222500"/>
            <a:ext cx="2476500" cy="1270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40100" y="2222500"/>
            <a:ext cx="2476500"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92500" y="2374900"/>
            <a:ext cx="2171700" cy="457200"/>
          </a:xfrm>
          <a:prstGeom prst="rect">
            <a:avLst/>
          </a:prstGeom>
          <a:noFill/>
        </p:spPr>
        <p:txBody>
          <a:bodyPr wrap="square" lIns="0" tIns="0" rIns="0" bIns="0" anchor="ctr" anchorCtr="0">
            <a:spAutoFit/>
          </a:bodyPr>
          <a:lstStyle/>
          <a:p>
            <a:pPr algn="ctr">
              <a:lnSpc>
                <a:spcPct val="115000"/>
              </a:lnSpc>
            </a:pPr>
            <a:r>
              <a:rPr sz="1300" b="1">
                <a:solidFill>
                  <a:srgbClr val="1A2332"/>
                </a:solidFill>
                <a:latin typeface="Calibri"/>
                <a:cs typeface="Calibri"/>
              </a:rPr>
              <a:t>ingress-nginx</a:t>
            </a:r>
          </a:p>
          <a:p>
            <a:pPr algn="ctr">
              <a:lnSpc>
                <a:spcPct val="115000"/>
              </a:lnSpc>
            </a:pPr>
            <a:r>
              <a:rPr sz="1300" b="1">
                <a:solidFill>
                  <a:srgbClr val="1A2332"/>
                </a:solidFill>
                <a:latin typeface="Calibri"/>
                <a:cs typeface="Calibri"/>
              </a:rPr>
              <a:t>en k3s-control</a:t>
            </a:r>
          </a:p>
        </p:txBody>
      </p:sp>
      <p:sp>
        <p:nvSpPr>
          <p:cNvPr id="16" name="TextBox 15"/>
          <p:cNvSpPr txBox="1"/>
          <p:nvPr/>
        </p:nvSpPr>
        <p:spPr>
          <a:xfrm>
            <a:off x="3492500" y="2882900"/>
            <a:ext cx="2171700" cy="5334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Recibe en :80</a:t>
            </a:r>
          </a:p>
          <a:p>
            <a:pPr algn="ctr">
              <a:lnSpc>
                <a:spcPct val="115000"/>
              </a:lnSpc>
            </a:pPr>
            <a:r>
              <a:rPr sz="1100">
                <a:solidFill>
                  <a:srgbClr val="4A5568"/>
                </a:solidFill>
                <a:latin typeface="Calibri"/>
                <a:cs typeface="Calibri"/>
              </a:rPr>
              <a:t>Host: localhost</a:t>
            </a:r>
          </a:p>
        </p:txBody>
      </p:sp>
      <p:sp>
        <p:nvSpPr>
          <p:cNvPr id="17" name="TextBox 16"/>
          <p:cNvSpPr txBox="1"/>
          <p:nvPr/>
        </p:nvSpPr>
        <p:spPr>
          <a:xfrm>
            <a:off x="5867400" y="2705100"/>
            <a:ext cx="203200" cy="304800"/>
          </a:xfrm>
          <a:prstGeom prst="rect">
            <a:avLst/>
          </a:prstGeom>
          <a:noFill/>
        </p:spPr>
        <p:txBody>
          <a:bodyPr wrap="square" lIns="0" tIns="0" rIns="0" bIns="0" anchor="t">
            <a:spAutoFit/>
          </a:bodyPr>
          <a:lstStyle/>
          <a:p>
            <a:pPr algn="ctr">
              <a:lnSpc>
                <a:spcPct val="115000"/>
              </a:lnSpc>
            </a:pPr>
            <a:r>
              <a:rPr sz="2200" b="1">
                <a:solidFill>
                  <a:srgbClr val="326CE5"/>
                </a:solidFill>
                <a:latin typeface="Calibri"/>
                <a:cs typeface="Calibri"/>
              </a:rPr>
              <a:t>&gt;</a:t>
            </a:r>
          </a:p>
        </p:txBody>
      </p:sp>
      <p:sp>
        <p:nvSpPr>
          <p:cNvPr id="18" name="Rectangle 17"/>
          <p:cNvSpPr/>
          <p:nvPr/>
        </p:nvSpPr>
        <p:spPr>
          <a:xfrm>
            <a:off x="6134100" y="2222500"/>
            <a:ext cx="2476500" cy="1270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34100" y="2222500"/>
            <a:ext cx="2476500"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86500" y="2374900"/>
            <a:ext cx="2171700" cy="457200"/>
          </a:xfrm>
          <a:prstGeom prst="rect">
            <a:avLst/>
          </a:prstGeom>
          <a:noFill/>
        </p:spPr>
        <p:txBody>
          <a:bodyPr wrap="square" lIns="0" tIns="0" rIns="0" bIns="0" anchor="ctr" anchorCtr="0">
            <a:spAutoFit/>
          </a:bodyPr>
          <a:lstStyle/>
          <a:p>
            <a:pPr algn="ctr">
              <a:lnSpc>
                <a:spcPct val="115000"/>
              </a:lnSpc>
            </a:pPr>
            <a:r>
              <a:rPr sz="1300" b="1">
                <a:solidFill>
                  <a:srgbClr val="1A2332"/>
                </a:solidFill>
                <a:latin typeface="Calibri"/>
                <a:cs typeface="Calibri"/>
              </a:rPr>
              <a:t>Service ui</a:t>
            </a:r>
          </a:p>
          <a:p>
            <a:pPr algn="ctr">
              <a:lnSpc>
                <a:spcPct val="115000"/>
              </a:lnSpc>
            </a:pPr>
            <a:r>
              <a:rPr sz="1300" b="1">
                <a:solidFill>
                  <a:srgbClr val="1A2332"/>
                </a:solidFill>
                <a:latin typeface="Calibri"/>
                <a:cs typeface="Calibri"/>
              </a:rPr>
              <a:t>ClusterIP</a:t>
            </a:r>
          </a:p>
        </p:txBody>
      </p:sp>
      <p:sp>
        <p:nvSpPr>
          <p:cNvPr id="21" name="TextBox 20"/>
          <p:cNvSpPr txBox="1"/>
          <p:nvPr/>
        </p:nvSpPr>
        <p:spPr>
          <a:xfrm>
            <a:off x="6286500" y="2882900"/>
            <a:ext cx="2171700" cy="5334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Direccion virtual</a:t>
            </a:r>
          </a:p>
          <a:p>
            <a:pPr algn="ctr">
              <a:lnSpc>
                <a:spcPct val="115000"/>
              </a:lnSpc>
            </a:pPr>
            <a:r>
              <a:rPr sz="1100">
                <a:solidFill>
                  <a:srgbClr val="4A5568"/>
                </a:solidFill>
                <a:latin typeface="Calibri"/>
                <a:cs typeface="Calibri"/>
              </a:rPr>
              <a:t>estable</a:t>
            </a:r>
          </a:p>
        </p:txBody>
      </p:sp>
      <p:sp>
        <p:nvSpPr>
          <p:cNvPr id="22" name="TextBox 21"/>
          <p:cNvSpPr txBox="1"/>
          <p:nvPr/>
        </p:nvSpPr>
        <p:spPr>
          <a:xfrm>
            <a:off x="8661400" y="2705100"/>
            <a:ext cx="203200" cy="304800"/>
          </a:xfrm>
          <a:prstGeom prst="rect">
            <a:avLst/>
          </a:prstGeom>
          <a:noFill/>
        </p:spPr>
        <p:txBody>
          <a:bodyPr wrap="square" lIns="0" tIns="0" rIns="0" bIns="0" anchor="t">
            <a:spAutoFit/>
          </a:bodyPr>
          <a:lstStyle/>
          <a:p>
            <a:pPr algn="ctr">
              <a:lnSpc>
                <a:spcPct val="115000"/>
              </a:lnSpc>
            </a:pPr>
            <a:r>
              <a:rPr sz="2200" b="1">
                <a:solidFill>
                  <a:srgbClr val="326CE5"/>
                </a:solidFill>
                <a:latin typeface="Calibri"/>
                <a:cs typeface="Calibri"/>
              </a:rPr>
              <a:t>&gt;</a:t>
            </a:r>
          </a:p>
        </p:txBody>
      </p:sp>
      <p:sp>
        <p:nvSpPr>
          <p:cNvPr id="23" name="Rectangle 22"/>
          <p:cNvSpPr/>
          <p:nvPr/>
        </p:nvSpPr>
        <p:spPr>
          <a:xfrm>
            <a:off x="8928100" y="2222500"/>
            <a:ext cx="2476500" cy="1270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28100" y="2222500"/>
            <a:ext cx="2476500"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80500" y="2374900"/>
            <a:ext cx="2171700" cy="457200"/>
          </a:xfrm>
          <a:prstGeom prst="rect">
            <a:avLst/>
          </a:prstGeom>
          <a:noFill/>
        </p:spPr>
        <p:txBody>
          <a:bodyPr wrap="square" lIns="0" tIns="0" rIns="0" bIns="0" anchor="ctr" anchorCtr="0">
            <a:spAutoFit/>
          </a:bodyPr>
          <a:lstStyle/>
          <a:p>
            <a:pPr algn="ctr">
              <a:lnSpc>
                <a:spcPct val="115000"/>
              </a:lnSpc>
            </a:pPr>
            <a:r>
              <a:rPr sz="1300" b="1">
                <a:solidFill>
                  <a:srgbClr val="1A2332"/>
                </a:solidFill>
                <a:latin typeface="Calibri"/>
                <a:cs typeface="Calibri"/>
              </a:rPr>
              <a:t>Pod ui</a:t>
            </a:r>
          </a:p>
          <a:p>
            <a:pPr algn="ctr">
              <a:lnSpc>
                <a:spcPct val="115000"/>
              </a:lnSpc>
            </a:pPr>
            <a:r>
              <a:rPr sz="1300" b="1">
                <a:solidFill>
                  <a:srgbClr val="1A2332"/>
                </a:solidFill>
                <a:latin typeface="Calibri"/>
                <a:cs typeface="Calibri"/>
              </a:rPr>
              <a:t>10.42.x.x</a:t>
            </a:r>
          </a:p>
        </p:txBody>
      </p:sp>
      <p:sp>
        <p:nvSpPr>
          <p:cNvPr id="26" name="TextBox 25"/>
          <p:cNvSpPr txBox="1"/>
          <p:nvPr/>
        </p:nvSpPr>
        <p:spPr>
          <a:xfrm>
            <a:off x="9080500" y="2882900"/>
            <a:ext cx="2171700" cy="533400"/>
          </a:xfrm>
          <a:prstGeom prst="rect">
            <a:avLst/>
          </a:prstGeom>
          <a:noFill/>
        </p:spPr>
        <p:txBody>
          <a:bodyPr wrap="square" lIns="0" tIns="0" rIns="0" bIns="0" anchor="t">
            <a:spAutoFit/>
          </a:bodyPr>
          <a:lstStyle/>
          <a:p>
            <a:pPr algn="ctr">
              <a:lnSpc>
                <a:spcPct val="115000"/>
              </a:lnSpc>
            </a:pPr>
            <a:r>
              <a:rPr sz="1100">
                <a:solidFill>
                  <a:srgbClr val="4A5568"/>
                </a:solidFill>
                <a:latin typeface="Calibri"/>
                <a:cs typeface="Calibri"/>
              </a:rPr>
              <a:t>El contenedor</a:t>
            </a:r>
          </a:p>
          <a:p>
            <a:pPr algn="ctr">
              <a:lnSpc>
                <a:spcPct val="115000"/>
              </a:lnSpc>
            </a:pPr>
            <a:r>
              <a:rPr sz="1100">
                <a:solidFill>
                  <a:srgbClr val="4A5568"/>
                </a:solidFill>
                <a:latin typeface="Calibri"/>
                <a:cs typeface="Calibri"/>
              </a:rPr>
              <a:t>que responde</a:t>
            </a:r>
          </a:p>
        </p:txBody>
      </p:sp>
      <p:sp>
        <p:nvSpPr>
          <p:cNvPr id="27" name="TextBox 26"/>
          <p:cNvSpPr txBox="1"/>
          <p:nvPr/>
        </p:nvSpPr>
        <p:spPr>
          <a:xfrm>
            <a:off x="546100" y="3873500"/>
            <a:ext cx="11150600" cy="3302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Rangos y puertos en juego</a:t>
            </a:r>
          </a:p>
        </p:txBody>
      </p:sp>
      <p:sp>
        <p:nvSpPr>
          <p:cNvPr id="28" name="Rectangle 27"/>
          <p:cNvSpPr/>
          <p:nvPr/>
        </p:nvSpPr>
        <p:spPr>
          <a:xfrm>
            <a:off x="546100" y="4381500"/>
            <a:ext cx="3302000" cy="482600"/>
          </a:xfrm>
          <a:prstGeom prst="rect">
            <a:avLst/>
          </a:prstGeom>
          <a:solidFill>
            <a:srgbClr val="1A2332"/>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98500" y="4483100"/>
            <a:ext cx="2997200" cy="279400"/>
          </a:xfrm>
          <a:prstGeom prst="rect">
            <a:avLst/>
          </a:prstGeom>
          <a:noFill/>
        </p:spPr>
        <p:txBody>
          <a:bodyPr wrap="square" lIns="0" tIns="0" rIns="0" bIns="0" anchor="ctr" anchorCtr="0">
            <a:spAutoFit/>
          </a:bodyPr>
          <a:lstStyle/>
          <a:p>
            <a:pPr algn="l">
              <a:lnSpc>
                <a:spcPct val="115000"/>
              </a:lnSpc>
            </a:pPr>
            <a:r>
              <a:rPr sz="1300" b="1">
                <a:solidFill>
                  <a:srgbClr val="FFFFFF"/>
                </a:solidFill>
                <a:latin typeface="Calibri"/>
                <a:cs typeface="Calibri"/>
              </a:rPr>
              <a:t>Capa</a:t>
            </a:r>
          </a:p>
        </p:txBody>
      </p:sp>
      <p:sp>
        <p:nvSpPr>
          <p:cNvPr id="30" name="Rectangle 29"/>
          <p:cNvSpPr/>
          <p:nvPr/>
        </p:nvSpPr>
        <p:spPr>
          <a:xfrm>
            <a:off x="3848100" y="4381500"/>
            <a:ext cx="2540000" cy="482600"/>
          </a:xfrm>
          <a:prstGeom prst="rect">
            <a:avLst/>
          </a:prstGeom>
          <a:solidFill>
            <a:srgbClr val="1A2332"/>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000500" y="4483100"/>
            <a:ext cx="2235200" cy="279400"/>
          </a:xfrm>
          <a:prstGeom prst="rect">
            <a:avLst/>
          </a:prstGeom>
          <a:noFill/>
        </p:spPr>
        <p:txBody>
          <a:bodyPr wrap="square" lIns="0" tIns="0" rIns="0" bIns="0" anchor="ctr" anchorCtr="0">
            <a:spAutoFit/>
          </a:bodyPr>
          <a:lstStyle/>
          <a:p>
            <a:pPr algn="l">
              <a:lnSpc>
                <a:spcPct val="115000"/>
              </a:lnSpc>
            </a:pPr>
            <a:r>
              <a:rPr sz="1300" b="1">
                <a:solidFill>
                  <a:srgbClr val="FFFFFF"/>
                </a:solidFill>
                <a:latin typeface="Calibri"/>
                <a:cs typeface="Calibri"/>
              </a:rPr>
              <a:t>Rango / Puerto</a:t>
            </a:r>
          </a:p>
        </p:txBody>
      </p:sp>
      <p:sp>
        <p:nvSpPr>
          <p:cNvPr id="32" name="Rectangle 31"/>
          <p:cNvSpPr/>
          <p:nvPr/>
        </p:nvSpPr>
        <p:spPr>
          <a:xfrm>
            <a:off x="6388100" y="4381500"/>
            <a:ext cx="5308600" cy="482600"/>
          </a:xfrm>
          <a:prstGeom prst="rect">
            <a:avLst/>
          </a:prstGeom>
          <a:solidFill>
            <a:srgbClr val="1A2332"/>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40500" y="4483100"/>
            <a:ext cx="5003800" cy="279400"/>
          </a:xfrm>
          <a:prstGeom prst="rect">
            <a:avLst/>
          </a:prstGeom>
          <a:noFill/>
        </p:spPr>
        <p:txBody>
          <a:bodyPr wrap="square" lIns="0" tIns="0" rIns="0" bIns="0" anchor="ctr" anchorCtr="0">
            <a:spAutoFit/>
          </a:bodyPr>
          <a:lstStyle/>
          <a:p>
            <a:pPr algn="l">
              <a:lnSpc>
                <a:spcPct val="115000"/>
              </a:lnSpc>
            </a:pPr>
            <a:r>
              <a:rPr sz="1300" b="1">
                <a:solidFill>
                  <a:srgbClr val="FFFFFF"/>
                </a:solidFill>
                <a:latin typeface="Calibri"/>
                <a:cs typeface="Calibri"/>
              </a:rPr>
              <a:t>Quien lo usa</a:t>
            </a:r>
          </a:p>
        </p:txBody>
      </p:sp>
      <p:sp>
        <p:nvSpPr>
          <p:cNvPr id="34" name="Rectangle 33"/>
          <p:cNvSpPr/>
          <p:nvPr/>
        </p:nvSpPr>
        <p:spPr>
          <a:xfrm>
            <a:off x="546100" y="4864100"/>
            <a:ext cx="3302000" cy="4826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8500" y="4965700"/>
            <a:ext cx="2997200" cy="279400"/>
          </a:xfrm>
          <a:prstGeom prst="rect">
            <a:avLst/>
          </a:prstGeom>
          <a:noFill/>
        </p:spPr>
        <p:txBody>
          <a:bodyPr wrap="square" lIns="0" tIns="0" rIns="0" bIns="0" anchor="ctr" anchorCtr="0">
            <a:spAutoFit/>
          </a:bodyPr>
          <a:lstStyle/>
          <a:p>
            <a:pPr algn="l">
              <a:lnSpc>
                <a:spcPct val="115000"/>
              </a:lnSpc>
            </a:pPr>
            <a:r>
              <a:rPr sz="1300" b="1">
                <a:solidFill>
                  <a:srgbClr val="1A2332"/>
                </a:solidFill>
                <a:latin typeface="Calibri"/>
                <a:cs typeface="Calibri"/>
              </a:rPr>
              <a:t>Red privada nodos</a:t>
            </a:r>
          </a:p>
        </p:txBody>
      </p:sp>
      <p:sp>
        <p:nvSpPr>
          <p:cNvPr id="36" name="Rectangle 35"/>
          <p:cNvSpPr/>
          <p:nvPr/>
        </p:nvSpPr>
        <p:spPr>
          <a:xfrm>
            <a:off x="3848100" y="4864100"/>
            <a:ext cx="2540000" cy="4826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000500" y="4965700"/>
            <a:ext cx="2235200" cy="279400"/>
          </a:xfrm>
          <a:prstGeom prst="rect">
            <a:avLst/>
          </a:prstGeom>
          <a:noFill/>
        </p:spPr>
        <p:txBody>
          <a:bodyPr wrap="square" lIns="0" tIns="0" rIns="0" bIns="0" anchor="ctr" anchorCtr="0">
            <a:spAutoFit/>
          </a:bodyPr>
          <a:lstStyle/>
          <a:p>
            <a:pPr algn="l">
              <a:lnSpc>
                <a:spcPct val="115000"/>
              </a:lnSpc>
            </a:pPr>
            <a:r>
              <a:rPr sz="1200">
                <a:solidFill>
                  <a:srgbClr val="326CE5"/>
                </a:solidFill>
                <a:latin typeface="Consolas"/>
                <a:cs typeface="Consolas"/>
              </a:rPr>
              <a:t>192.168.56.0/24</a:t>
            </a:r>
          </a:p>
        </p:txBody>
      </p:sp>
      <p:sp>
        <p:nvSpPr>
          <p:cNvPr id="38" name="Rectangle 37"/>
          <p:cNvSpPr/>
          <p:nvPr/>
        </p:nvSpPr>
        <p:spPr>
          <a:xfrm>
            <a:off x="6388100" y="4864100"/>
            <a:ext cx="5308600" cy="4826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40500" y="4965700"/>
            <a:ext cx="5003800" cy="279400"/>
          </a:xfrm>
          <a:prstGeom prst="rect">
            <a:avLst/>
          </a:prstGeom>
          <a:noFill/>
        </p:spPr>
        <p:txBody>
          <a:bodyPr wrap="square" lIns="0" tIns="0" rIns="0" bIns="0" anchor="ctr" anchorCtr="0">
            <a:spAutoFit/>
          </a:bodyPr>
          <a:lstStyle/>
          <a:p>
            <a:pPr algn="l">
              <a:lnSpc>
                <a:spcPct val="115000"/>
              </a:lnSpc>
            </a:pPr>
            <a:r>
              <a:rPr sz="1200">
                <a:solidFill>
                  <a:srgbClr val="4A5568"/>
                </a:solidFill>
                <a:latin typeface="Calibri"/>
                <a:cs typeface="Calibri"/>
              </a:rPr>
              <a:t>SSH, API server, Ingress, VXLAN</a:t>
            </a:r>
          </a:p>
        </p:txBody>
      </p:sp>
      <p:sp>
        <p:nvSpPr>
          <p:cNvPr id="40" name="Rectangle 39"/>
          <p:cNvSpPr/>
          <p:nvPr/>
        </p:nvSpPr>
        <p:spPr>
          <a:xfrm>
            <a:off x="546100" y="5346700"/>
            <a:ext cx="3302000" cy="482600"/>
          </a:xfrm>
          <a:prstGeom prst="rect">
            <a:avLst/>
          </a:prstGeom>
          <a:solidFill>
            <a:srgbClr val="F7FAFC"/>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98500" y="5448300"/>
            <a:ext cx="2997200" cy="279400"/>
          </a:xfrm>
          <a:prstGeom prst="rect">
            <a:avLst/>
          </a:prstGeom>
          <a:noFill/>
        </p:spPr>
        <p:txBody>
          <a:bodyPr wrap="square" lIns="0" tIns="0" rIns="0" bIns="0" anchor="ctr" anchorCtr="0">
            <a:spAutoFit/>
          </a:bodyPr>
          <a:lstStyle/>
          <a:p>
            <a:pPr algn="l">
              <a:lnSpc>
                <a:spcPct val="115000"/>
              </a:lnSpc>
            </a:pPr>
            <a:r>
              <a:rPr sz="1300" b="1">
                <a:solidFill>
                  <a:srgbClr val="1A2332"/>
                </a:solidFill>
                <a:latin typeface="Calibri"/>
                <a:cs typeface="Calibri"/>
              </a:rPr>
              <a:t>Pod CIDR</a:t>
            </a:r>
          </a:p>
        </p:txBody>
      </p:sp>
      <p:sp>
        <p:nvSpPr>
          <p:cNvPr id="42" name="Rectangle 41"/>
          <p:cNvSpPr/>
          <p:nvPr/>
        </p:nvSpPr>
        <p:spPr>
          <a:xfrm>
            <a:off x="3848100" y="5346700"/>
            <a:ext cx="2540000" cy="482600"/>
          </a:xfrm>
          <a:prstGeom prst="rect">
            <a:avLst/>
          </a:prstGeom>
          <a:solidFill>
            <a:srgbClr val="F7FAFC"/>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000500" y="5448300"/>
            <a:ext cx="2235200" cy="279400"/>
          </a:xfrm>
          <a:prstGeom prst="rect">
            <a:avLst/>
          </a:prstGeom>
          <a:noFill/>
        </p:spPr>
        <p:txBody>
          <a:bodyPr wrap="square" lIns="0" tIns="0" rIns="0" bIns="0" anchor="ctr" anchorCtr="0">
            <a:spAutoFit/>
          </a:bodyPr>
          <a:lstStyle/>
          <a:p>
            <a:pPr algn="l">
              <a:lnSpc>
                <a:spcPct val="115000"/>
              </a:lnSpc>
            </a:pPr>
            <a:r>
              <a:rPr sz="1200">
                <a:solidFill>
                  <a:srgbClr val="326CE5"/>
                </a:solidFill>
                <a:latin typeface="Consolas"/>
                <a:cs typeface="Consolas"/>
              </a:rPr>
              <a:t>10.42.0.0/16</a:t>
            </a:r>
          </a:p>
        </p:txBody>
      </p:sp>
      <p:sp>
        <p:nvSpPr>
          <p:cNvPr id="44" name="Rectangle 43"/>
          <p:cNvSpPr/>
          <p:nvPr/>
        </p:nvSpPr>
        <p:spPr>
          <a:xfrm>
            <a:off x="6388100" y="5346700"/>
            <a:ext cx="5308600" cy="482600"/>
          </a:xfrm>
          <a:prstGeom prst="rect">
            <a:avLst/>
          </a:prstGeom>
          <a:solidFill>
            <a:srgbClr val="F7FAFC"/>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40500" y="5448300"/>
            <a:ext cx="5003800" cy="279400"/>
          </a:xfrm>
          <a:prstGeom prst="rect">
            <a:avLst/>
          </a:prstGeom>
          <a:noFill/>
        </p:spPr>
        <p:txBody>
          <a:bodyPr wrap="square" lIns="0" tIns="0" rIns="0" bIns="0" anchor="ctr" anchorCtr="0">
            <a:spAutoFit/>
          </a:bodyPr>
          <a:lstStyle/>
          <a:p>
            <a:pPr algn="l">
              <a:lnSpc>
                <a:spcPct val="115000"/>
              </a:lnSpc>
            </a:pPr>
            <a:r>
              <a:rPr sz="1200">
                <a:solidFill>
                  <a:srgbClr val="4A5568"/>
                </a:solidFill>
                <a:latin typeface="Calibri"/>
                <a:cs typeface="Calibri"/>
              </a:rPr>
              <a:t>IPs internas de cada contenedor</a:t>
            </a:r>
          </a:p>
        </p:txBody>
      </p:sp>
      <p:sp>
        <p:nvSpPr>
          <p:cNvPr id="46" name="Rectangle 45"/>
          <p:cNvSpPr/>
          <p:nvPr/>
        </p:nvSpPr>
        <p:spPr>
          <a:xfrm>
            <a:off x="546100" y="5829300"/>
            <a:ext cx="3302000" cy="4826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98500" y="5930900"/>
            <a:ext cx="2997200" cy="279400"/>
          </a:xfrm>
          <a:prstGeom prst="rect">
            <a:avLst/>
          </a:prstGeom>
          <a:noFill/>
        </p:spPr>
        <p:txBody>
          <a:bodyPr wrap="square" lIns="0" tIns="0" rIns="0" bIns="0" anchor="ctr" anchorCtr="0">
            <a:spAutoFit/>
          </a:bodyPr>
          <a:lstStyle/>
          <a:p>
            <a:pPr algn="l">
              <a:lnSpc>
                <a:spcPct val="115000"/>
              </a:lnSpc>
            </a:pPr>
            <a:r>
              <a:rPr sz="1300" b="1">
                <a:solidFill>
                  <a:srgbClr val="1A2332"/>
                </a:solidFill>
                <a:latin typeface="Calibri"/>
                <a:cs typeface="Calibri"/>
              </a:rPr>
              <a:t>Service CIDR</a:t>
            </a:r>
          </a:p>
        </p:txBody>
      </p:sp>
      <p:sp>
        <p:nvSpPr>
          <p:cNvPr id="48" name="Rectangle 47"/>
          <p:cNvSpPr/>
          <p:nvPr/>
        </p:nvSpPr>
        <p:spPr>
          <a:xfrm>
            <a:off x="3848100" y="5829300"/>
            <a:ext cx="2540000" cy="4826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000500" y="5930900"/>
            <a:ext cx="2235200" cy="279400"/>
          </a:xfrm>
          <a:prstGeom prst="rect">
            <a:avLst/>
          </a:prstGeom>
          <a:noFill/>
        </p:spPr>
        <p:txBody>
          <a:bodyPr wrap="square" lIns="0" tIns="0" rIns="0" bIns="0" anchor="ctr" anchorCtr="0">
            <a:spAutoFit/>
          </a:bodyPr>
          <a:lstStyle/>
          <a:p>
            <a:pPr algn="l">
              <a:lnSpc>
                <a:spcPct val="115000"/>
              </a:lnSpc>
            </a:pPr>
            <a:r>
              <a:rPr sz="1200">
                <a:solidFill>
                  <a:srgbClr val="326CE5"/>
                </a:solidFill>
                <a:latin typeface="Consolas"/>
                <a:cs typeface="Consolas"/>
              </a:rPr>
              <a:t>10.43.0.0/16</a:t>
            </a:r>
          </a:p>
        </p:txBody>
      </p:sp>
      <p:sp>
        <p:nvSpPr>
          <p:cNvPr id="50" name="Rectangle 49"/>
          <p:cNvSpPr/>
          <p:nvPr/>
        </p:nvSpPr>
        <p:spPr>
          <a:xfrm>
            <a:off x="6388100" y="5829300"/>
            <a:ext cx="5308600" cy="4826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540500" y="5930900"/>
            <a:ext cx="5003800" cy="279400"/>
          </a:xfrm>
          <a:prstGeom prst="rect">
            <a:avLst/>
          </a:prstGeom>
          <a:noFill/>
        </p:spPr>
        <p:txBody>
          <a:bodyPr wrap="square" lIns="0" tIns="0" rIns="0" bIns="0" anchor="ctr" anchorCtr="0">
            <a:spAutoFit/>
          </a:bodyPr>
          <a:lstStyle/>
          <a:p>
            <a:pPr algn="l">
              <a:lnSpc>
                <a:spcPct val="115000"/>
              </a:lnSpc>
            </a:pPr>
            <a:r>
              <a:rPr sz="1200">
                <a:solidFill>
                  <a:srgbClr val="4A5568"/>
                </a:solidFill>
                <a:latin typeface="Calibri"/>
                <a:cs typeface="Calibri"/>
              </a:rPr>
              <a:t>Direcciones virtuales de servicios</a:t>
            </a:r>
          </a:p>
        </p:txBody>
      </p:sp>
      <p:sp>
        <p:nvSpPr>
          <p:cNvPr id="58" name="TextBox 57"/>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59" name="TextBox 58"/>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13 / 21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SOLUCION</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De cero a tienda online en 4 pasos</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3</a:t>
            </a:r>
          </a:p>
        </p:txBody>
      </p:sp>
      <p:sp>
        <p:nvSpPr>
          <p:cNvPr id="7" name="Rounded Rectangle 6"/>
          <p:cNvSpPr/>
          <p:nvPr/>
        </p:nvSpPr>
        <p:spPr>
          <a:xfrm>
            <a:off x="546100" y="1841500"/>
            <a:ext cx="711200" cy="7112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200" b="1">
                <a:solidFill>
                  <a:srgbClr val="FFFFFF"/>
                </a:solidFill>
                <a:latin typeface="Calibri"/>
                <a:cs typeface="Calibri"/>
              </a:rPr>
              <a:t>01</a:t>
            </a:r>
          </a:p>
        </p:txBody>
      </p:sp>
      <p:sp>
        <p:nvSpPr>
          <p:cNvPr id="8" name="TextBox 7"/>
          <p:cNvSpPr txBox="1"/>
          <p:nvPr/>
        </p:nvSpPr>
        <p:spPr>
          <a:xfrm>
            <a:off x="1460500" y="1841500"/>
            <a:ext cx="10160000" cy="3048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Build de imagenes</a:t>
            </a:r>
          </a:p>
        </p:txBody>
      </p:sp>
      <p:sp>
        <p:nvSpPr>
          <p:cNvPr id="9" name="TextBox 8"/>
          <p:cNvSpPr txBox="1"/>
          <p:nvPr/>
        </p:nvSpPr>
        <p:spPr>
          <a:xfrm>
            <a:off x="1460500" y="2146300"/>
            <a:ext cx="10160000" cy="279400"/>
          </a:xfrm>
          <a:prstGeom prst="rect">
            <a:avLst/>
          </a:prstGeom>
          <a:noFill/>
        </p:spPr>
        <p:txBody>
          <a:bodyPr wrap="square" lIns="0" tIns="0" rIns="0" bIns="0" anchor="t">
            <a:spAutoFit/>
          </a:bodyPr>
          <a:lstStyle/>
          <a:p>
            <a:pPr algn="l">
              <a:lnSpc>
                <a:spcPct val="115000"/>
              </a:lnSpc>
            </a:pPr>
            <a:r>
              <a:rPr sz="1200">
                <a:solidFill>
                  <a:srgbClr val="326CE5"/>
                </a:solidFill>
                <a:latin typeface="Consolas"/>
                <a:cs typeface="Consolas"/>
              </a:rPr>
              <a:t>bash scripts/build-images.sh + export-images.sh</a:t>
            </a:r>
          </a:p>
        </p:txBody>
      </p:sp>
      <p:sp>
        <p:nvSpPr>
          <p:cNvPr id="10" name="TextBox 9"/>
          <p:cNvSpPr txBox="1"/>
          <p:nvPr/>
        </p:nvSpPr>
        <p:spPr>
          <a:xfrm>
            <a:off x="1460500" y="2425700"/>
            <a:ext cx="10160000" cy="3556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Construimos las 5 imagenes Docker y las exportamos a un tar.</a:t>
            </a:r>
          </a:p>
        </p:txBody>
      </p:sp>
      <p:sp>
        <p:nvSpPr>
          <p:cNvPr id="11" name="Rounded Rectangle 10"/>
          <p:cNvSpPr/>
          <p:nvPr/>
        </p:nvSpPr>
        <p:spPr>
          <a:xfrm>
            <a:off x="546100" y="2857500"/>
            <a:ext cx="711200" cy="7112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200" b="1">
                <a:solidFill>
                  <a:srgbClr val="FFFFFF"/>
                </a:solidFill>
                <a:latin typeface="Calibri"/>
                <a:cs typeface="Calibri"/>
              </a:rPr>
              <a:t>02</a:t>
            </a:r>
          </a:p>
        </p:txBody>
      </p:sp>
      <p:sp>
        <p:nvSpPr>
          <p:cNvPr id="12" name="TextBox 11"/>
          <p:cNvSpPr txBox="1"/>
          <p:nvPr/>
        </p:nvSpPr>
        <p:spPr>
          <a:xfrm>
            <a:off x="1460500" y="2857500"/>
            <a:ext cx="10160000" cy="3048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Levantar VMs</a:t>
            </a:r>
          </a:p>
        </p:txBody>
      </p:sp>
      <p:sp>
        <p:nvSpPr>
          <p:cNvPr id="13" name="TextBox 12"/>
          <p:cNvSpPr txBox="1"/>
          <p:nvPr/>
        </p:nvSpPr>
        <p:spPr>
          <a:xfrm>
            <a:off x="1460500" y="3162300"/>
            <a:ext cx="10160000" cy="279400"/>
          </a:xfrm>
          <a:prstGeom prst="rect">
            <a:avLst/>
          </a:prstGeom>
          <a:noFill/>
        </p:spPr>
        <p:txBody>
          <a:bodyPr wrap="square" lIns="0" tIns="0" rIns="0" bIns="0" anchor="t">
            <a:spAutoFit/>
          </a:bodyPr>
          <a:lstStyle/>
          <a:p>
            <a:pPr algn="l">
              <a:lnSpc>
                <a:spcPct val="115000"/>
              </a:lnSpc>
            </a:pPr>
            <a:r>
              <a:rPr sz="1200">
                <a:solidFill>
                  <a:srgbClr val="326CE5"/>
                </a:solidFill>
                <a:latin typeface="Consolas"/>
                <a:cs typeface="Consolas"/>
              </a:rPr>
              <a:t>cd infra &amp;&amp; vagrant up k3s-control k3s-worker-1 k3s-worker-2</a:t>
            </a:r>
          </a:p>
        </p:txBody>
      </p:sp>
      <p:sp>
        <p:nvSpPr>
          <p:cNvPr id="14" name="TextBox 13"/>
          <p:cNvSpPr txBox="1"/>
          <p:nvPr/>
        </p:nvSpPr>
        <p:spPr>
          <a:xfrm>
            <a:off x="1460500" y="3441700"/>
            <a:ext cx="10160000" cy="3556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Vagrant arranca 3 VMs Ubuntu con IPs fijas.</a:t>
            </a:r>
          </a:p>
        </p:txBody>
      </p:sp>
      <p:sp>
        <p:nvSpPr>
          <p:cNvPr id="15" name="Rounded Rectangle 14"/>
          <p:cNvSpPr/>
          <p:nvPr/>
        </p:nvSpPr>
        <p:spPr>
          <a:xfrm>
            <a:off x="546100" y="3873500"/>
            <a:ext cx="711200" cy="7112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200" b="1">
                <a:solidFill>
                  <a:srgbClr val="FFFFFF"/>
                </a:solidFill>
                <a:latin typeface="Calibri"/>
                <a:cs typeface="Calibri"/>
              </a:rPr>
              <a:t>03</a:t>
            </a:r>
          </a:p>
        </p:txBody>
      </p:sp>
      <p:sp>
        <p:nvSpPr>
          <p:cNvPr id="16" name="TextBox 15"/>
          <p:cNvSpPr txBox="1"/>
          <p:nvPr/>
        </p:nvSpPr>
        <p:spPr>
          <a:xfrm>
            <a:off x="1460500" y="3873500"/>
            <a:ext cx="10160000" cy="3048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Configurar cluster</a:t>
            </a:r>
          </a:p>
        </p:txBody>
      </p:sp>
      <p:sp>
        <p:nvSpPr>
          <p:cNvPr id="17" name="TextBox 16"/>
          <p:cNvSpPr txBox="1"/>
          <p:nvPr/>
        </p:nvSpPr>
        <p:spPr>
          <a:xfrm>
            <a:off x="1460500" y="4178300"/>
            <a:ext cx="10160000" cy="279400"/>
          </a:xfrm>
          <a:prstGeom prst="rect">
            <a:avLst/>
          </a:prstGeom>
          <a:noFill/>
        </p:spPr>
        <p:txBody>
          <a:bodyPr wrap="square" lIns="0" tIns="0" rIns="0" bIns="0" anchor="t">
            <a:spAutoFit/>
          </a:bodyPr>
          <a:lstStyle/>
          <a:p>
            <a:pPr algn="l">
              <a:lnSpc>
                <a:spcPct val="115000"/>
              </a:lnSpc>
            </a:pPr>
            <a:r>
              <a:rPr sz="1200">
                <a:solidFill>
                  <a:srgbClr val="326CE5"/>
                </a:solidFill>
                <a:latin typeface="Consolas"/>
                <a:cs typeface="Consolas"/>
              </a:rPr>
              <a:t>ansible-playbook playbooks/site.yml</a:t>
            </a:r>
          </a:p>
        </p:txBody>
      </p:sp>
      <p:sp>
        <p:nvSpPr>
          <p:cNvPr id="18" name="TextBox 17"/>
          <p:cNvSpPr txBox="1"/>
          <p:nvPr/>
        </p:nvSpPr>
        <p:spPr>
          <a:xfrm>
            <a:off x="1460500" y="4457700"/>
            <a:ext cx="10160000" cy="3556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Ansible prepara SO, instala K3s server, une workers, exporta kubeconfig e instala Ingress.</a:t>
            </a:r>
          </a:p>
        </p:txBody>
      </p:sp>
      <p:sp>
        <p:nvSpPr>
          <p:cNvPr id="19" name="Rounded Rectangle 18"/>
          <p:cNvSpPr/>
          <p:nvPr/>
        </p:nvSpPr>
        <p:spPr>
          <a:xfrm>
            <a:off x="546100" y="4889500"/>
            <a:ext cx="711200" cy="7112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200" b="1">
                <a:solidFill>
                  <a:srgbClr val="FFFFFF"/>
                </a:solidFill>
                <a:latin typeface="Calibri"/>
                <a:cs typeface="Calibri"/>
              </a:rPr>
              <a:t>04</a:t>
            </a:r>
          </a:p>
        </p:txBody>
      </p:sp>
      <p:sp>
        <p:nvSpPr>
          <p:cNvPr id="20" name="TextBox 19"/>
          <p:cNvSpPr txBox="1"/>
          <p:nvPr/>
        </p:nvSpPr>
        <p:spPr>
          <a:xfrm>
            <a:off x="1460500" y="4889500"/>
            <a:ext cx="10160000" cy="3048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Desplegar The Store</a:t>
            </a:r>
          </a:p>
        </p:txBody>
      </p:sp>
      <p:sp>
        <p:nvSpPr>
          <p:cNvPr id="21" name="TextBox 20"/>
          <p:cNvSpPr txBox="1"/>
          <p:nvPr/>
        </p:nvSpPr>
        <p:spPr>
          <a:xfrm>
            <a:off x="1460500" y="5194300"/>
            <a:ext cx="10160000" cy="279400"/>
          </a:xfrm>
          <a:prstGeom prst="rect">
            <a:avLst/>
          </a:prstGeom>
          <a:noFill/>
        </p:spPr>
        <p:txBody>
          <a:bodyPr wrap="square" lIns="0" tIns="0" rIns="0" bIns="0" anchor="t">
            <a:spAutoFit/>
          </a:bodyPr>
          <a:lstStyle/>
          <a:p>
            <a:pPr algn="l">
              <a:lnSpc>
                <a:spcPct val="115000"/>
              </a:lnSpc>
            </a:pPr>
            <a:r>
              <a:rPr sz="1200">
                <a:solidFill>
                  <a:srgbClr val="326CE5"/>
                </a:solidFill>
                <a:latin typeface="Consolas"/>
                <a:cs typeface="Consolas"/>
              </a:rPr>
              <a:t>ansible-playbook playbooks/deploy-store.yml</a:t>
            </a:r>
          </a:p>
        </p:txBody>
      </p:sp>
      <p:sp>
        <p:nvSpPr>
          <p:cNvPr id="22" name="TextBox 21"/>
          <p:cNvSpPr txBox="1"/>
          <p:nvPr/>
        </p:nvSpPr>
        <p:spPr>
          <a:xfrm>
            <a:off x="1460500" y="5473700"/>
            <a:ext cx="10160000" cy="3556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Importa imagenes en cada nodo y aplica los manifiestos K8s.</a:t>
            </a:r>
          </a:p>
        </p:txBody>
      </p:sp>
      <p:sp>
        <p:nvSpPr>
          <p:cNvPr id="23" name="TextBox 22"/>
          <p:cNvSpPr txBox="1"/>
          <p:nvPr/>
        </p:nvSpPr>
        <p:spPr>
          <a:xfrm>
            <a:off x="546100" y="6070600"/>
            <a:ext cx="10972800" cy="330200"/>
          </a:xfrm>
          <a:prstGeom prst="rect">
            <a:avLst/>
          </a:prstGeom>
          <a:noFill/>
        </p:spPr>
        <p:txBody>
          <a:bodyPr wrap="square" lIns="0" tIns="0" rIns="0" bIns="0" anchor="t">
            <a:spAutoFit/>
          </a:bodyPr>
          <a:lstStyle/>
          <a:p>
            <a:pPr algn="ctr">
              <a:lnSpc>
                <a:spcPct val="115000"/>
              </a:lnSpc>
            </a:pPr>
            <a:r>
              <a:rPr sz="1400" b="1" i="1">
                <a:solidFill>
                  <a:srgbClr val="326CE5"/>
                </a:solidFill>
                <a:latin typeface="Calibri"/>
                <a:cs typeface="Calibri"/>
              </a:rPr>
              <a:t>Resultado: cluster Ready + The Store accesible en http://192.168.56.10 (Host: localhost).</a:t>
            </a:r>
          </a:p>
        </p:txBody>
      </p:sp>
      <p:sp>
        <p:nvSpPr>
          <p:cNvPr id="24" name="TextBox 23"/>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25" name="TextBox 24"/>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14 / 21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SOLUCION</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Como validamos que funciona</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3</a:t>
            </a:r>
          </a:p>
        </p:txBody>
      </p:sp>
      <p:sp>
        <p:nvSpPr>
          <p:cNvPr id="7" name="TextBox 6"/>
          <p:cNvSpPr txBox="1"/>
          <p:nvPr/>
        </p:nvSpPr>
        <p:spPr>
          <a:xfrm>
            <a:off x="546100" y="1651000"/>
            <a:ext cx="5486400" cy="3556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Validacion de infraestructura</a:t>
            </a:r>
          </a:p>
        </p:txBody>
      </p:sp>
      <p:sp>
        <p:nvSpPr>
          <p:cNvPr id="8" name="TextBox 7"/>
          <p:cNvSpPr txBox="1"/>
          <p:nvPr/>
        </p:nvSpPr>
        <p:spPr>
          <a:xfrm>
            <a:off x="546100" y="2057400"/>
            <a:ext cx="5486400" cy="1778000"/>
          </a:xfrm>
          <a:prstGeom prst="rect">
            <a:avLst/>
          </a:prstGeom>
          <a:noFill/>
        </p:spPr>
        <p:txBody>
          <a:bodyPr wrap="square" lIns="0" tIns="0" rIns="0" bIns="0">
            <a:spAutoFit/>
          </a:bodyPr>
          <a:lstStyle/>
          <a:p>
            <a:pPr algn="l">
              <a:lnSpc>
                <a:spcPct val="130000"/>
              </a:lnSpc>
              <a:spcAft>
                <a:spcPts val="800"/>
              </a:spcAft>
            </a:pPr>
            <a:r>
              <a:rPr sz="1300">
                <a:solidFill>
                  <a:srgbClr val="4A5568"/>
                </a:solidFill>
                <a:latin typeface="Calibri"/>
                <a:cs typeface="Calibri"/>
              </a:rPr>
              <a:t>■  Nodos en estado Ready</a:t>
            </a:r>
          </a:p>
          <a:p>
            <a:pPr algn="l">
              <a:lnSpc>
                <a:spcPct val="130000"/>
              </a:lnSpc>
              <a:spcAft>
                <a:spcPts val="800"/>
              </a:spcAft>
            </a:pPr>
            <a:r>
              <a:rPr sz="1300">
                <a:solidFill>
                  <a:srgbClr val="4A5568"/>
                </a:solidFill>
                <a:latin typeface="Calibri"/>
                <a:cs typeface="Calibri"/>
              </a:rPr>
              <a:t>■  Pods de The Store en Running</a:t>
            </a:r>
          </a:p>
          <a:p>
            <a:pPr algn="l">
              <a:lnSpc>
                <a:spcPct val="130000"/>
              </a:lnSpc>
              <a:spcAft>
                <a:spcPts val="800"/>
              </a:spcAft>
            </a:pPr>
            <a:r>
              <a:rPr sz="1300">
                <a:solidFill>
                  <a:srgbClr val="4A5568"/>
                </a:solidFill>
                <a:latin typeface="Calibri"/>
                <a:cs typeface="Calibri"/>
              </a:rPr>
              <a:t>■  Ingress responde por HTTP</a:t>
            </a:r>
          </a:p>
        </p:txBody>
      </p:sp>
      <p:sp>
        <p:nvSpPr>
          <p:cNvPr id="9" name="TextBox 8"/>
          <p:cNvSpPr txBox="1"/>
          <p:nvPr/>
        </p:nvSpPr>
        <p:spPr>
          <a:xfrm>
            <a:off x="546100" y="3962400"/>
            <a:ext cx="5486400" cy="3556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Validacion funcional (end-to-end)</a:t>
            </a:r>
          </a:p>
        </p:txBody>
      </p:sp>
      <p:sp>
        <p:nvSpPr>
          <p:cNvPr id="10" name="TextBox 9"/>
          <p:cNvSpPr txBox="1"/>
          <p:nvPr/>
        </p:nvSpPr>
        <p:spPr>
          <a:xfrm>
            <a:off x="546100" y="4368800"/>
            <a:ext cx="5486400" cy="1981200"/>
          </a:xfrm>
          <a:prstGeom prst="rect">
            <a:avLst/>
          </a:prstGeom>
          <a:noFill/>
        </p:spPr>
        <p:txBody>
          <a:bodyPr wrap="square" lIns="0" tIns="0" rIns="0" bIns="0">
            <a:spAutoFit/>
          </a:bodyPr>
          <a:lstStyle/>
          <a:p>
            <a:pPr algn="l">
              <a:lnSpc>
                <a:spcPct val="130000"/>
              </a:lnSpc>
              <a:spcAft>
                <a:spcPts val="800"/>
              </a:spcAft>
            </a:pPr>
            <a:r>
              <a:rPr sz="1300">
                <a:solidFill>
                  <a:srgbClr val="4A5568"/>
                </a:solidFill>
                <a:latin typeface="Calibri"/>
                <a:cs typeface="Calibri"/>
              </a:rPr>
              <a:t>■  scripts/validate-store.sh recorre el flujo de compra real</a:t>
            </a:r>
          </a:p>
          <a:p>
            <a:pPr algn="l">
              <a:lnSpc>
                <a:spcPct val="130000"/>
              </a:lnSpc>
              <a:spcAft>
                <a:spcPts val="800"/>
              </a:spcAft>
            </a:pPr>
            <a:r>
              <a:rPr sz="1300">
                <a:solidFill>
                  <a:srgbClr val="4A5568"/>
                </a:solidFill>
                <a:latin typeface="Calibri"/>
                <a:cs typeface="Calibri"/>
              </a:rPr>
              <a:t>■  Home -&gt; catalogo -&gt; producto -&gt; carrito -&gt; checkout -&gt; orden</a:t>
            </a:r>
          </a:p>
          <a:p>
            <a:pPr algn="l">
              <a:lnSpc>
                <a:spcPct val="130000"/>
              </a:lnSpc>
              <a:spcAft>
                <a:spcPts val="800"/>
              </a:spcAft>
            </a:pPr>
            <a:r>
              <a:rPr sz="1300">
                <a:solidFill>
                  <a:srgbClr val="4A5568"/>
                </a:solidFill>
                <a:latin typeface="Calibri"/>
                <a:cs typeface="Calibri"/>
              </a:rPr>
              <a:t>■  Comprueba que UI hable con catalog, carts, checkout y orders</a:t>
            </a:r>
          </a:p>
        </p:txBody>
      </p:sp>
      <p:sp>
        <p:nvSpPr>
          <p:cNvPr id="11" name="TextBox 10"/>
          <p:cNvSpPr txBox="1"/>
          <p:nvPr/>
        </p:nvSpPr>
        <p:spPr>
          <a:xfrm>
            <a:off x="6400800" y="1651000"/>
            <a:ext cx="5308600" cy="3556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Comandos de cierre</a:t>
            </a:r>
          </a:p>
        </p:txBody>
      </p:sp>
      <p:sp>
        <p:nvSpPr>
          <p:cNvPr id="12" name="Rectangle 11"/>
          <p:cNvSpPr/>
          <p:nvPr/>
        </p:nvSpPr>
        <p:spPr>
          <a:xfrm>
            <a:off x="6400800" y="2057400"/>
            <a:ext cx="5308600" cy="4292600"/>
          </a:xfrm>
          <a:prstGeom prst="rect">
            <a:avLst/>
          </a:prstGeom>
          <a:solidFill>
            <a:srgbClr val="1E293B"/>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78600" y="2222500"/>
            <a:ext cx="4978400" cy="4000500"/>
          </a:xfrm>
          <a:prstGeom prst="rect">
            <a:avLst/>
          </a:prstGeom>
          <a:noFill/>
        </p:spPr>
        <p:txBody>
          <a:bodyPr wrap="square" lIns="0" tIns="0" rIns="0" bIns="0">
            <a:spAutoFit/>
          </a:bodyPr>
          <a:lstStyle/>
          <a:p>
            <a:pPr>
              <a:lnSpc>
                <a:spcPct val="110000"/>
              </a:lnSpc>
            </a:pPr>
            <a:r>
              <a:rPr sz="1100">
                <a:solidFill>
                  <a:srgbClr val="E2E8F0"/>
                </a:solidFill>
                <a:latin typeface="Consolas"/>
                <a:cs typeface="Consolas"/>
              </a:rPr>
              <a:t>vagrant status</a:t>
            </a:r>
          </a:p>
          <a:p>
            <a:pPr>
              <a:lnSpc>
                <a:spcPct val="110000"/>
              </a:lnSpc>
            </a:pPr>
            <a:r>
              <a:rPr sz="1100">
                <a:solidFill>
                  <a:srgbClr val="E2E8F0"/>
                </a:solidFill>
                <a:latin typeface="Consolas"/>
                <a:cs typeface="Consolas"/>
              </a:rPr>
              <a:t> </a:t>
            </a:r>
          </a:p>
          <a:p>
            <a:pPr>
              <a:lnSpc>
                <a:spcPct val="110000"/>
              </a:lnSpc>
            </a:pPr>
            <a:r>
              <a:rPr sz="1100">
                <a:solidFill>
                  <a:srgbClr val="E2E8F0"/>
                </a:solidFill>
                <a:latin typeface="Consolas"/>
                <a:cs typeface="Consolas"/>
              </a:rPr>
              <a:t>kubectl get nodes -o wide</a:t>
            </a:r>
          </a:p>
          <a:p>
            <a:pPr>
              <a:lnSpc>
                <a:spcPct val="110000"/>
              </a:lnSpc>
            </a:pPr>
            <a:r>
              <a:rPr sz="1100">
                <a:solidFill>
                  <a:srgbClr val="E2E8F0"/>
                </a:solidFill>
                <a:latin typeface="Consolas"/>
                <a:cs typeface="Consolas"/>
              </a:rPr>
              <a:t>kubectl get pods -n the-store -o wide</a:t>
            </a:r>
          </a:p>
          <a:p>
            <a:pPr>
              <a:lnSpc>
                <a:spcPct val="110000"/>
              </a:lnSpc>
            </a:pPr>
            <a:r>
              <a:rPr sz="1100">
                <a:solidFill>
                  <a:srgbClr val="E2E8F0"/>
                </a:solidFill>
                <a:latin typeface="Consolas"/>
                <a:cs typeface="Consolas"/>
              </a:rPr>
              <a:t>kubectl get ingress -n the-store</a:t>
            </a:r>
          </a:p>
          <a:p>
            <a:pPr>
              <a:lnSpc>
                <a:spcPct val="110000"/>
              </a:lnSpc>
            </a:pPr>
            <a:r>
              <a:rPr sz="1100">
                <a:solidFill>
                  <a:srgbClr val="E2E8F0"/>
                </a:solidFill>
                <a:latin typeface="Consolas"/>
                <a:cs typeface="Consolas"/>
              </a:rPr>
              <a:t> </a:t>
            </a:r>
          </a:p>
          <a:p>
            <a:pPr>
              <a:lnSpc>
                <a:spcPct val="110000"/>
              </a:lnSpc>
            </a:pPr>
            <a:r>
              <a:rPr sz="1100">
                <a:solidFill>
                  <a:srgbClr val="E2E8F0"/>
                </a:solidFill>
                <a:latin typeface="Consolas"/>
                <a:cs typeface="Consolas"/>
              </a:rPr>
              <a:t>curl -H 'Host: localhost' \</a:t>
            </a:r>
          </a:p>
          <a:p>
            <a:pPr>
              <a:lnSpc>
                <a:spcPct val="110000"/>
              </a:lnSpc>
            </a:pPr>
            <a:r>
              <a:rPr sz="1100">
                <a:solidFill>
                  <a:srgbClr val="E2E8F0"/>
                </a:solidFill>
                <a:latin typeface="Consolas"/>
                <a:cs typeface="Consolas"/>
              </a:rPr>
              <a:t>  http://192.168.56.10/</a:t>
            </a:r>
          </a:p>
          <a:p>
            <a:pPr>
              <a:lnSpc>
                <a:spcPct val="110000"/>
              </a:lnSpc>
            </a:pPr>
            <a:r>
              <a:rPr sz="1100">
                <a:solidFill>
                  <a:srgbClr val="E2E8F0"/>
                </a:solidFill>
                <a:latin typeface="Consolas"/>
                <a:cs typeface="Consolas"/>
              </a:rPr>
              <a:t> </a:t>
            </a:r>
          </a:p>
          <a:p>
            <a:pPr>
              <a:lnSpc>
                <a:spcPct val="110000"/>
              </a:lnSpc>
            </a:pPr>
            <a:r>
              <a:rPr sz="1100">
                <a:solidFill>
                  <a:srgbClr val="E2E8F0"/>
                </a:solidFill>
                <a:latin typeface="Consolas"/>
                <a:cs typeface="Consolas"/>
              </a:rPr>
              <a:t>bash scripts/validate-store.sh</a:t>
            </a:r>
          </a:p>
        </p:txBody>
      </p:sp>
      <p:sp>
        <p:nvSpPr>
          <p:cNvPr id="14" name="TextBox 13"/>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15" name="TextBox 14"/>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15 / 21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SOLUCION</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Gestion basica: agregar un Worker</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3</a:t>
            </a:r>
          </a:p>
        </p:txBody>
      </p:sp>
      <p:sp>
        <p:nvSpPr>
          <p:cNvPr id="7" name="TextBox 6"/>
          <p:cNvSpPr txBox="1"/>
          <p:nvPr/>
        </p:nvSpPr>
        <p:spPr>
          <a:xfrm>
            <a:off x="546100" y="1651000"/>
            <a:ext cx="11150600" cy="3556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Tercer caso de uso: sumar un nodo sin reinstalar nada</a:t>
            </a:r>
          </a:p>
        </p:txBody>
      </p:sp>
      <p:sp>
        <p:nvSpPr>
          <p:cNvPr id="8" name="Rectangle 7"/>
          <p:cNvSpPr/>
          <p:nvPr/>
        </p:nvSpPr>
        <p:spPr>
          <a:xfrm>
            <a:off x="546100" y="2222500"/>
            <a:ext cx="5397500" cy="508000"/>
          </a:xfrm>
          <a:prstGeom prst="rect">
            <a:avLst/>
          </a:prstGeom>
          <a:solidFill>
            <a:srgbClr val="94A3B8"/>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6100" y="2324100"/>
            <a:ext cx="5397500" cy="355600"/>
          </a:xfrm>
          <a:prstGeom prst="rect">
            <a:avLst/>
          </a:prstGeom>
          <a:noFill/>
        </p:spPr>
        <p:txBody>
          <a:bodyPr wrap="square" lIns="0" tIns="0" rIns="0" bIns="0" anchor="ctr" anchorCtr="0">
            <a:spAutoFit/>
          </a:bodyPr>
          <a:lstStyle/>
          <a:p>
            <a:pPr algn="ctr">
              <a:lnSpc>
                <a:spcPct val="115000"/>
              </a:lnSpc>
            </a:pPr>
            <a:r>
              <a:rPr sz="1400" b="1">
                <a:solidFill>
                  <a:srgbClr val="FFFFFF"/>
                </a:solidFill>
                <a:latin typeface="Calibri"/>
                <a:cs typeface="Calibri"/>
              </a:rPr>
              <a:t>Antes - topologia inicial</a:t>
            </a:r>
          </a:p>
        </p:txBody>
      </p:sp>
      <p:sp>
        <p:nvSpPr>
          <p:cNvPr id="10" name="Rectangle 9"/>
          <p:cNvSpPr/>
          <p:nvPr/>
        </p:nvSpPr>
        <p:spPr>
          <a:xfrm>
            <a:off x="546100" y="2730500"/>
            <a:ext cx="5397500" cy="2159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6600" y="2921000"/>
            <a:ext cx="5029200" cy="1841500"/>
          </a:xfrm>
          <a:prstGeom prst="rect">
            <a:avLst/>
          </a:prstGeom>
          <a:noFill/>
        </p:spPr>
        <p:txBody>
          <a:bodyPr wrap="square" lIns="0" tIns="0" rIns="0" bIns="0" anchor="t">
            <a:spAutoFit/>
          </a:bodyPr>
          <a:lstStyle/>
          <a:p>
            <a:pPr algn="l">
              <a:lnSpc>
                <a:spcPct val="150000"/>
              </a:lnSpc>
            </a:pPr>
            <a:r>
              <a:rPr sz="1400">
                <a:solidFill>
                  <a:srgbClr val="4A5568"/>
                </a:solidFill>
                <a:latin typeface="Consolas"/>
                <a:cs typeface="Consolas"/>
              </a:rPr>
              <a:t>k3s-control</a:t>
            </a:r>
          </a:p>
          <a:p>
            <a:pPr algn="l">
              <a:lnSpc>
                <a:spcPct val="150000"/>
              </a:lnSpc>
            </a:pPr>
            <a:r>
              <a:rPr sz="1400">
                <a:solidFill>
                  <a:srgbClr val="4A5568"/>
                </a:solidFill>
                <a:latin typeface="Consolas"/>
                <a:cs typeface="Consolas"/>
              </a:rPr>
              <a:t>k3s-worker-1</a:t>
            </a:r>
          </a:p>
          <a:p>
            <a:pPr algn="l">
              <a:lnSpc>
                <a:spcPct val="150000"/>
              </a:lnSpc>
            </a:pPr>
            <a:r>
              <a:rPr sz="1400">
                <a:solidFill>
                  <a:srgbClr val="4A5568"/>
                </a:solidFill>
                <a:latin typeface="Consolas"/>
                <a:cs typeface="Consolas"/>
              </a:rPr>
              <a:t>k3s-worker-2</a:t>
            </a:r>
          </a:p>
        </p:txBody>
      </p:sp>
      <p:sp>
        <p:nvSpPr>
          <p:cNvPr id="12" name="Rectangle 11"/>
          <p:cNvSpPr/>
          <p:nvPr/>
        </p:nvSpPr>
        <p:spPr>
          <a:xfrm>
            <a:off x="6261100" y="2222500"/>
            <a:ext cx="5397500" cy="5080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1100" y="2324100"/>
            <a:ext cx="5397500" cy="355600"/>
          </a:xfrm>
          <a:prstGeom prst="rect">
            <a:avLst/>
          </a:prstGeom>
          <a:noFill/>
        </p:spPr>
        <p:txBody>
          <a:bodyPr wrap="square" lIns="0" tIns="0" rIns="0" bIns="0" anchor="ctr" anchorCtr="0">
            <a:spAutoFit/>
          </a:bodyPr>
          <a:lstStyle/>
          <a:p>
            <a:pPr algn="ctr">
              <a:lnSpc>
                <a:spcPct val="115000"/>
              </a:lnSpc>
            </a:pPr>
            <a:r>
              <a:rPr sz="1400" b="1">
                <a:solidFill>
                  <a:srgbClr val="FFFFFF"/>
                </a:solidFill>
                <a:latin typeface="Calibri"/>
                <a:cs typeface="Calibri"/>
              </a:rPr>
              <a:t>Despues - cluster expandido</a:t>
            </a:r>
          </a:p>
        </p:txBody>
      </p:sp>
      <p:sp>
        <p:nvSpPr>
          <p:cNvPr id="14" name="Rectangle 13"/>
          <p:cNvSpPr/>
          <p:nvPr/>
        </p:nvSpPr>
        <p:spPr>
          <a:xfrm>
            <a:off x="6261100" y="2730500"/>
            <a:ext cx="5397500" cy="2159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51600" y="2921000"/>
            <a:ext cx="5029200" cy="1841500"/>
          </a:xfrm>
          <a:prstGeom prst="rect">
            <a:avLst/>
          </a:prstGeom>
          <a:noFill/>
        </p:spPr>
        <p:txBody>
          <a:bodyPr wrap="square" lIns="0" tIns="0" rIns="0" bIns="0" anchor="t">
            <a:spAutoFit/>
          </a:bodyPr>
          <a:lstStyle/>
          <a:p>
            <a:pPr algn="l">
              <a:lnSpc>
                <a:spcPct val="150000"/>
              </a:lnSpc>
            </a:pPr>
            <a:r>
              <a:rPr sz="1400">
                <a:solidFill>
                  <a:srgbClr val="1A2332"/>
                </a:solidFill>
                <a:latin typeface="Consolas"/>
                <a:cs typeface="Consolas"/>
              </a:rPr>
              <a:t>k3s-control</a:t>
            </a:r>
          </a:p>
          <a:p>
            <a:pPr algn="l">
              <a:lnSpc>
                <a:spcPct val="150000"/>
              </a:lnSpc>
            </a:pPr>
            <a:r>
              <a:rPr sz="1400">
                <a:solidFill>
                  <a:srgbClr val="1A2332"/>
                </a:solidFill>
                <a:latin typeface="Consolas"/>
                <a:cs typeface="Consolas"/>
              </a:rPr>
              <a:t>k3s-worker-1</a:t>
            </a:r>
          </a:p>
          <a:p>
            <a:pPr algn="l">
              <a:lnSpc>
                <a:spcPct val="150000"/>
              </a:lnSpc>
            </a:pPr>
            <a:r>
              <a:rPr sz="1400">
                <a:solidFill>
                  <a:srgbClr val="1A2332"/>
                </a:solidFill>
                <a:latin typeface="Consolas"/>
                <a:cs typeface="Consolas"/>
              </a:rPr>
              <a:t>k3s-worker-2</a:t>
            </a:r>
          </a:p>
          <a:p>
            <a:pPr algn="l">
              <a:lnSpc>
                <a:spcPct val="150000"/>
              </a:lnSpc>
            </a:pPr>
            <a:r>
              <a:rPr sz="1400">
                <a:solidFill>
                  <a:srgbClr val="1A2332"/>
                </a:solidFill>
                <a:latin typeface="Consolas"/>
                <a:cs typeface="Consolas"/>
              </a:rPr>
              <a:t>k3s-worker-3  &lt;- nuevo</a:t>
            </a:r>
          </a:p>
        </p:txBody>
      </p:sp>
      <p:sp>
        <p:nvSpPr>
          <p:cNvPr id="16" name="TextBox 15"/>
          <p:cNvSpPr txBox="1"/>
          <p:nvPr/>
        </p:nvSpPr>
        <p:spPr>
          <a:xfrm>
            <a:off x="546100" y="5016500"/>
            <a:ext cx="11150600" cy="330200"/>
          </a:xfrm>
          <a:prstGeom prst="rect">
            <a:avLst/>
          </a:prstGeom>
          <a:noFill/>
        </p:spPr>
        <p:txBody>
          <a:bodyPr wrap="square" lIns="0" tIns="0" rIns="0" bIns="0" anchor="t">
            <a:spAutoFit/>
          </a:bodyPr>
          <a:lstStyle/>
          <a:p>
            <a:pPr algn="l">
              <a:lnSpc>
                <a:spcPct val="115000"/>
              </a:lnSpc>
            </a:pPr>
            <a:r>
              <a:rPr sz="1600" b="1">
                <a:solidFill>
                  <a:srgbClr val="1A2332"/>
                </a:solidFill>
                <a:latin typeface="Calibri"/>
                <a:cs typeface="Calibri"/>
              </a:rPr>
              <a:t>Tres comandos para que el cluster lo integre</a:t>
            </a:r>
          </a:p>
        </p:txBody>
      </p:sp>
      <p:sp>
        <p:nvSpPr>
          <p:cNvPr id="17" name="Rectangle 16"/>
          <p:cNvSpPr/>
          <p:nvPr/>
        </p:nvSpPr>
        <p:spPr>
          <a:xfrm>
            <a:off x="546100" y="5397500"/>
            <a:ext cx="11150600" cy="889000"/>
          </a:xfrm>
          <a:prstGeom prst="rect">
            <a:avLst/>
          </a:prstGeom>
          <a:solidFill>
            <a:srgbClr val="1E293B"/>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6600" y="5486400"/>
            <a:ext cx="10795000" cy="762000"/>
          </a:xfrm>
          <a:prstGeom prst="rect">
            <a:avLst/>
          </a:prstGeom>
          <a:noFill/>
        </p:spPr>
        <p:txBody>
          <a:bodyPr wrap="square" lIns="0" tIns="0" rIns="0" bIns="0">
            <a:spAutoFit/>
          </a:bodyPr>
          <a:lstStyle/>
          <a:p>
            <a:pPr>
              <a:lnSpc>
                <a:spcPct val="110000"/>
              </a:lnSpc>
            </a:pPr>
            <a:r>
              <a:rPr sz="1200">
                <a:solidFill>
                  <a:srgbClr val="E2E8F0"/>
                </a:solidFill>
                <a:latin typeface="Consolas"/>
                <a:cs typeface="Consolas"/>
              </a:rPr>
              <a:t>vagrant up k3s-worker-3</a:t>
            </a:r>
          </a:p>
          <a:p>
            <a:pPr>
              <a:lnSpc>
                <a:spcPct val="110000"/>
              </a:lnSpc>
            </a:pPr>
            <a:r>
              <a:rPr sz="1200">
                <a:solidFill>
                  <a:srgbClr val="E2E8F0"/>
                </a:solidFill>
                <a:latin typeface="Consolas"/>
                <a:cs typeface="Consolas"/>
              </a:rPr>
              <a:t>ansible-playbook playbooks/add-worker.yml -e add_worker_target=k3s-worker-3</a:t>
            </a:r>
          </a:p>
          <a:p>
            <a:pPr>
              <a:lnSpc>
                <a:spcPct val="110000"/>
              </a:lnSpc>
            </a:pPr>
            <a:r>
              <a:rPr sz="1200">
                <a:solidFill>
                  <a:srgbClr val="E2E8F0"/>
                </a:solidFill>
                <a:latin typeface="Consolas"/>
                <a:cs typeface="Consolas"/>
              </a:rPr>
              <a:t>ansible-playbook playbooks/add-worker.yml -e import_store_images=true --tags images</a:t>
            </a:r>
          </a:p>
        </p:txBody>
      </p:sp>
      <p:sp>
        <p:nvSpPr>
          <p:cNvPr id="19" name="TextBox 18"/>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20" name="TextBox 19"/>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16 / 21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2332"/>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6100" y="2540000"/>
            <a:ext cx="10972800" cy="381000"/>
          </a:xfrm>
          <a:prstGeom prst="rect">
            <a:avLst/>
          </a:prstGeom>
          <a:noFill/>
        </p:spPr>
        <p:txBody>
          <a:bodyPr wrap="square" lIns="0" tIns="0" rIns="0" bIns="0" anchor="t">
            <a:spAutoFit/>
          </a:bodyPr>
          <a:lstStyle/>
          <a:p>
            <a:pPr algn="ctr">
              <a:lnSpc>
                <a:spcPct val="115000"/>
              </a:lnSpc>
            </a:pPr>
            <a:r>
              <a:rPr sz="1600" b="1">
                <a:solidFill>
                  <a:srgbClr val="326CE5"/>
                </a:solidFill>
                <a:latin typeface="Calibri"/>
                <a:cs typeface="Calibri"/>
              </a:rPr>
              <a:t>EN VIVO</a:t>
            </a:r>
          </a:p>
        </p:txBody>
      </p:sp>
      <p:sp>
        <p:nvSpPr>
          <p:cNvPr id="4" name="TextBox 3"/>
          <p:cNvSpPr txBox="1"/>
          <p:nvPr/>
        </p:nvSpPr>
        <p:spPr>
          <a:xfrm>
            <a:off x="546100" y="2984500"/>
            <a:ext cx="10972800" cy="1143000"/>
          </a:xfrm>
          <a:prstGeom prst="rect">
            <a:avLst/>
          </a:prstGeom>
          <a:noFill/>
        </p:spPr>
        <p:txBody>
          <a:bodyPr wrap="square" lIns="0" tIns="0" rIns="0" bIns="0" anchor="t">
            <a:spAutoFit/>
          </a:bodyPr>
          <a:lstStyle/>
          <a:p>
            <a:pPr algn="ctr">
              <a:lnSpc>
                <a:spcPct val="115000"/>
              </a:lnSpc>
            </a:pPr>
            <a:r>
              <a:rPr sz="7200" b="1">
                <a:solidFill>
                  <a:srgbClr val="FFFFFF"/>
                </a:solidFill>
                <a:latin typeface="Calibri"/>
                <a:cs typeface="Calibri"/>
              </a:rPr>
              <a:t>Demo</a:t>
            </a:r>
          </a:p>
        </p:txBody>
      </p:sp>
      <p:cxnSp>
        <p:nvCxnSpPr>
          <p:cNvPr id="5" name="Connector 4"/>
          <p:cNvCxnSpPr/>
          <p:nvPr/>
        </p:nvCxnSpPr>
        <p:spPr>
          <a:xfrm>
            <a:off x="5461000" y="4254500"/>
            <a:ext cx="1270000" cy="0"/>
          </a:xfrm>
          <a:prstGeom prst="line">
            <a:avLst/>
          </a:prstGeom>
          <a:ln w="31750">
            <a:solidFill>
              <a:srgbClr val="4472C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6100" y="4445000"/>
            <a:ext cx="10972800" cy="381000"/>
          </a:xfrm>
          <a:prstGeom prst="rect">
            <a:avLst/>
          </a:prstGeom>
          <a:noFill/>
        </p:spPr>
        <p:txBody>
          <a:bodyPr wrap="square" lIns="0" tIns="0" rIns="0" bIns="0" anchor="t">
            <a:spAutoFit/>
          </a:bodyPr>
          <a:lstStyle/>
          <a:p>
            <a:pPr algn="ctr">
              <a:lnSpc>
                <a:spcPct val="115000"/>
              </a:lnSpc>
            </a:pPr>
            <a:r>
              <a:rPr sz="1600">
                <a:solidFill>
                  <a:srgbClr val="94A3B8"/>
                </a:solidFill>
                <a:latin typeface="Calibri"/>
                <a:cs typeface="Calibri"/>
              </a:rPr>
              <a:t>Cluster operativo  -  The Store funcionando  -  Worker en caliente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CIERRE</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Alternativas que consideramos</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1</a:t>
            </a:r>
          </a:p>
        </p:txBody>
      </p:sp>
      <p:sp>
        <p:nvSpPr>
          <p:cNvPr id="7" name="Rectangle 6"/>
          <p:cNvSpPr/>
          <p:nvPr/>
        </p:nvSpPr>
        <p:spPr>
          <a:xfrm>
            <a:off x="546100" y="1739900"/>
            <a:ext cx="11150600" cy="14732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6100" y="1739900"/>
            <a:ext cx="76200" cy="1473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9000" y="1892300"/>
            <a:ext cx="10414000" cy="3556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Minikube</a:t>
            </a:r>
          </a:p>
        </p:txBody>
      </p:sp>
      <p:sp>
        <p:nvSpPr>
          <p:cNvPr id="10" name="TextBox 9"/>
          <p:cNvSpPr txBox="1"/>
          <p:nvPr/>
        </p:nvSpPr>
        <p:spPr>
          <a:xfrm>
            <a:off x="889000" y="2273300"/>
            <a:ext cx="10414000" cy="330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Pensada para 1 o pocos nodos en local.</a:t>
            </a:r>
          </a:p>
        </p:txBody>
      </p:sp>
      <p:sp>
        <p:nvSpPr>
          <p:cNvPr id="11" name="TextBox 10"/>
          <p:cNvSpPr txBox="1"/>
          <p:nvPr/>
        </p:nvSpPr>
        <p:spPr>
          <a:xfrm>
            <a:off x="889000" y="2628900"/>
            <a:ext cx="104140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Por que la descartamos: Oculta la complejidad de bootstrap multi-nodo que queremos mostrar.</a:t>
            </a:r>
          </a:p>
        </p:txBody>
      </p:sp>
      <p:sp>
        <p:nvSpPr>
          <p:cNvPr id="12" name="Rectangle 11"/>
          <p:cNvSpPr/>
          <p:nvPr/>
        </p:nvSpPr>
        <p:spPr>
          <a:xfrm>
            <a:off x="546100" y="3365500"/>
            <a:ext cx="11150600" cy="14732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6100" y="3365500"/>
            <a:ext cx="76200" cy="1473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9000" y="3517900"/>
            <a:ext cx="10414000" cy="3556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Kind</a:t>
            </a:r>
          </a:p>
        </p:txBody>
      </p:sp>
      <p:sp>
        <p:nvSpPr>
          <p:cNvPr id="15" name="TextBox 14"/>
          <p:cNvSpPr txBox="1"/>
          <p:nvPr/>
        </p:nvSpPr>
        <p:spPr>
          <a:xfrm>
            <a:off x="889000" y="3898900"/>
            <a:ext cx="10414000" cy="330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Kubernetes corriendo dentro de contenedores Docker.</a:t>
            </a:r>
          </a:p>
        </p:txBody>
      </p:sp>
      <p:sp>
        <p:nvSpPr>
          <p:cNvPr id="16" name="TextBox 15"/>
          <p:cNvSpPr txBox="1"/>
          <p:nvPr/>
        </p:nvSpPr>
        <p:spPr>
          <a:xfrm>
            <a:off x="889000" y="4254500"/>
            <a:ext cx="104140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Por que la descartamos: Pierde fidelidad con un escenario real sobre VMs y reduce el rol de Ansible.</a:t>
            </a:r>
          </a:p>
        </p:txBody>
      </p:sp>
      <p:sp>
        <p:nvSpPr>
          <p:cNvPr id="17" name="Rectangle 16"/>
          <p:cNvSpPr/>
          <p:nvPr/>
        </p:nvSpPr>
        <p:spPr>
          <a:xfrm>
            <a:off x="546100" y="4991100"/>
            <a:ext cx="11150600" cy="1397000"/>
          </a:xfrm>
          <a:prstGeom prst="rect">
            <a:avLst/>
          </a:prstGeom>
          <a:solidFill>
            <a:srgbClr val="FFFFFF"/>
          </a:solidFill>
          <a:ln w="12700" cap="flat" cmpd="sng" algn="ctr">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6100" y="4991100"/>
            <a:ext cx="76200" cy="12700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9000" y="5143500"/>
            <a:ext cx="10414000" cy="3556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kops o cloud (EKS / GKE)</a:t>
            </a:r>
          </a:p>
        </p:txBody>
      </p:sp>
      <p:sp>
        <p:nvSpPr>
          <p:cNvPr id="20" name="TextBox 19"/>
          <p:cNvSpPr txBox="1"/>
          <p:nvPr/>
        </p:nvSpPr>
        <p:spPr>
          <a:xfrm>
            <a:off x="889000" y="5422900"/>
            <a:ext cx="10414000" cy="330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Productivos, pero requieren cuenta cloud y dependencia de red.</a:t>
            </a:r>
          </a:p>
        </p:txBody>
      </p:sp>
      <p:sp>
        <p:nvSpPr>
          <p:cNvPr id="21" name="TextBox 20"/>
          <p:cNvSpPr txBox="1"/>
          <p:nvPr/>
        </p:nvSpPr>
        <p:spPr>
          <a:xfrm>
            <a:off x="889000" y="5778500"/>
            <a:ext cx="104140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Por que la descartamos: Riesgo de costos y de falla por conectividad durante la exposicion.</a:t>
            </a:r>
          </a:p>
        </p:txBody>
      </p:sp>
      <p:sp>
        <p:nvSpPr>
          <p:cNvPr id="22" name="TextBox 21"/>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23" name="TextBox 22"/>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18 / 21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2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4000"/>
            <a:ext cx="9525000" cy="254000"/>
          </a:xfrm>
          <a:prstGeom prst="rect">
            <a:avLst/>
          </a:prstGeom>
          <a:noFill/>
        </p:spPr>
        <p:txBody>
          <a:bodyPr wrap="square" lIns="0" tIns="0" rIns="0" bIns="0" anchor="t">
            <a:spAutoFit/>
          </a:bodyPr>
          <a:lstStyle/>
          <a:p>
            <a:pPr algn="l">
              <a:lnSpc>
                <a:spcPct val="115000"/>
              </a:lnSpc>
            </a:pPr>
            <a:r>
              <a:rPr sz="1200" b="1">
                <a:solidFill>
                  <a:srgbClr val="326CE5"/>
                </a:solidFill>
                <a:latin typeface="Calibri"/>
                <a:cs typeface="Calibri"/>
              </a:rPr>
              <a:t>CIERRE</a:t>
            </a:r>
          </a:p>
        </p:txBody>
      </p:sp>
      <p:sp>
        <p:nvSpPr>
          <p:cNvPr id="4" name="TextBox 3"/>
          <p:cNvSpPr txBox="1"/>
          <p:nvPr/>
        </p:nvSpPr>
        <p:spPr>
          <a:xfrm>
            <a:off x="548640" y="558800"/>
            <a:ext cx="9525000" cy="635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Limites declarados del POC</a:t>
            </a:r>
          </a:p>
        </p:txBody>
      </p:sp>
      <p:cxnSp>
        <p:nvCxnSpPr>
          <p:cNvPr id="5" name="Connector 4"/>
          <p:cNvCxnSpPr/>
          <p:nvPr/>
        </p:nvCxnSpPr>
        <p:spPr>
          <a:xfrm>
            <a:off x="548640" y="1320800"/>
            <a:ext cx="11064240" cy="0"/>
          </a:xfrm>
          <a:prstGeom prst="line">
            <a:avLst/>
          </a:prstGeom>
          <a:ln w="19050">
            <a:solidFill>
              <a:srgbClr val="E7ECF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0375900" y="279400"/>
            <a:ext cx="1143000" cy="279400"/>
          </a:xfrm>
          <a:prstGeom prst="roundRect">
            <a:avLst/>
          </a:prstGeom>
          <a:solidFill>
            <a:srgbClr val="EEF2F7"/>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50000" tIns="20000" rIns="50000" bIns="20000" rtlCol="0" anchor="ctr"/>
          <a:lstStyle/>
          <a:p>
            <a:pPr algn="ctr"/>
            <a:r>
              <a:rPr sz="1100" b="1">
                <a:solidFill>
                  <a:srgbClr val="4A5568"/>
                </a:solidFill>
                <a:latin typeface="Calibri"/>
                <a:cs typeface="Calibri"/>
              </a:rPr>
              <a:t>Orador 1</a:t>
            </a:r>
          </a:p>
        </p:txBody>
      </p:sp>
      <p:sp>
        <p:nvSpPr>
          <p:cNvPr id="7" name="TextBox 6"/>
          <p:cNvSpPr txBox="1"/>
          <p:nvPr/>
        </p:nvSpPr>
        <p:spPr>
          <a:xfrm>
            <a:off x="546100" y="1651000"/>
            <a:ext cx="11150600" cy="381000"/>
          </a:xfrm>
          <a:prstGeom prst="rect">
            <a:avLst/>
          </a:prstGeom>
          <a:noFill/>
        </p:spPr>
        <p:txBody>
          <a:bodyPr wrap="square" lIns="0" tIns="0" rIns="0" bIns="0" anchor="t">
            <a:spAutoFit/>
          </a:bodyPr>
          <a:lstStyle/>
          <a:p>
            <a:pPr algn="l">
              <a:lnSpc>
                <a:spcPct val="115000"/>
              </a:lnSpc>
            </a:pPr>
            <a:r>
              <a:rPr b="1">
                <a:solidFill>
                  <a:srgbClr val="1A2332"/>
                </a:solidFill>
                <a:latin typeface="Calibri"/>
                <a:cs typeface="Calibri"/>
              </a:rPr>
              <a:t>Por honestidad tecnica: lo que NO esta en alcance</a:t>
            </a:r>
          </a:p>
        </p:txBody>
      </p:sp>
      <p:sp>
        <p:nvSpPr>
          <p:cNvPr id="8" name="Rounded Rectangle 7"/>
          <p:cNvSpPr/>
          <p:nvPr/>
        </p:nvSpPr>
        <p:spPr>
          <a:xfrm>
            <a:off x="546100" y="2260600"/>
            <a:ext cx="508000" cy="508000"/>
          </a:xfrm>
          <a:prstGeom prst="roundRect">
            <a:avLst/>
          </a:prstGeom>
          <a:solidFill>
            <a:srgbClr val="F59E0B"/>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000" b="1">
                <a:solidFill>
                  <a:srgbClr val="FFFFFF"/>
                </a:solidFill>
                <a:latin typeface="Calibri"/>
                <a:cs typeface="Calibri"/>
              </a:rPr>
              <a:t>!</a:t>
            </a:r>
          </a:p>
        </p:txBody>
      </p:sp>
      <p:sp>
        <p:nvSpPr>
          <p:cNvPr id="9" name="TextBox 8"/>
          <p:cNvSpPr txBox="1"/>
          <p:nvPr/>
        </p:nvSpPr>
        <p:spPr>
          <a:xfrm>
            <a:off x="1270000" y="2286000"/>
            <a:ext cx="10414000" cy="3302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Sin alta disponibilidad del Control Plane</a:t>
            </a:r>
          </a:p>
        </p:txBody>
      </p:sp>
      <p:sp>
        <p:nvSpPr>
          <p:cNvPr id="10" name="TextBox 9"/>
          <p:cNvSpPr txBox="1"/>
          <p:nvPr/>
        </p:nvSpPr>
        <p:spPr>
          <a:xfrm>
            <a:off x="1270000" y="2616200"/>
            <a:ext cx="104140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Si cae el nodo control, cae el plano de control. No es el foco de este TP.</a:t>
            </a:r>
          </a:p>
        </p:txBody>
      </p:sp>
      <p:sp>
        <p:nvSpPr>
          <p:cNvPr id="11" name="Rounded Rectangle 10"/>
          <p:cNvSpPr/>
          <p:nvPr/>
        </p:nvSpPr>
        <p:spPr>
          <a:xfrm>
            <a:off x="546100" y="3225800"/>
            <a:ext cx="508000" cy="508000"/>
          </a:xfrm>
          <a:prstGeom prst="roundRect">
            <a:avLst/>
          </a:prstGeom>
          <a:solidFill>
            <a:srgbClr val="F59E0B"/>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000" b="1">
                <a:solidFill>
                  <a:srgbClr val="FFFFFF"/>
                </a:solidFill>
                <a:latin typeface="Calibri"/>
                <a:cs typeface="Calibri"/>
              </a:rPr>
              <a:t>!</a:t>
            </a:r>
          </a:p>
        </p:txBody>
      </p:sp>
      <p:sp>
        <p:nvSpPr>
          <p:cNvPr id="12" name="TextBox 11"/>
          <p:cNvSpPr txBox="1"/>
          <p:nvPr/>
        </p:nvSpPr>
        <p:spPr>
          <a:xfrm>
            <a:off x="1270000" y="3251200"/>
            <a:ext cx="10414000" cy="3302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Sin autoscaling</a:t>
            </a:r>
          </a:p>
        </p:txBody>
      </p:sp>
      <p:sp>
        <p:nvSpPr>
          <p:cNvPr id="13" name="TextBox 12"/>
          <p:cNvSpPr txBox="1"/>
          <p:nvPr/>
        </p:nvSpPr>
        <p:spPr>
          <a:xfrm>
            <a:off x="1270000" y="3581400"/>
            <a:ext cx="104140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No agregamos nodos automaticamente segun carga; el alta es manual y controlada.</a:t>
            </a:r>
          </a:p>
        </p:txBody>
      </p:sp>
      <p:sp>
        <p:nvSpPr>
          <p:cNvPr id="14" name="Rounded Rectangle 13"/>
          <p:cNvSpPr/>
          <p:nvPr/>
        </p:nvSpPr>
        <p:spPr>
          <a:xfrm>
            <a:off x="546100" y="4191000"/>
            <a:ext cx="508000" cy="508000"/>
          </a:xfrm>
          <a:prstGeom prst="roundRect">
            <a:avLst/>
          </a:prstGeom>
          <a:solidFill>
            <a:srgbClr val="F59E0B"/>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000" b="1">
                <a:solidFill>
                  <a:srgbClr val="FFFFFF"/>
                </a:solidFill>
                <a:latin typeface="Calibri"/>
                <a:cs typeface="Calibri"/>
              </a:rPr>
              <a:t>!</a:t>
            </a:r>
          </a:p>
        </p:txBody>
      </p:sp>
      <p:sp>
        <p:nvSpPr>
          <p:cNvPr id="15" name="TextBox 14"/>
          <p:cNvSpPr txBox="1"/>
          <p:nvPr/>
        </p:nvSpPr>
        <p:spPr>
          <a:xfrm>
            <a:off x="1270000" y="4216400"/>
            <a:ext cx="10414000" cy="3302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Sin storage distribuido</a:t>
            </a:r>
          </a:p>
        </p:txBody>
      </p:sp>
      <p:sp>
        <p:nvSpPr>
          <p:cNvPr id="16" name="TextBox 15"/>
          <p:cNvSpPr txBox="1"/>
          <p:nvPr/>
        </p:nvSpPr>
        <p:spPr>
          <a:xfrm>
            <a:off x="1270000" y="4546600"/>
            <a:ext cx="104140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Persistencia in-memory. No se evalua perdida de datos ante restart.</a:t>
            </a:r>
          </a:p>
        </p:txBody>
      </p:sp>
      <p:sp>
        <p:nvSpPr>
          <p:cNvPr id="17" name="Rounded Rectangle 16"/>
          <p:cNvSpPr/>
          <p:nvPr/>
        </p:nvSpPr>
        <p:spPr>
          <a:xfrm>
            <a:off x="546100" y="5156200"/>
            <a:ext cx="508000" cy="508000"/>
          </a:xfrm>
          <a:prstGeom prst="roundRect">
            <a:avLst/>
          </a:prstGeom>
          <a:solidFill>
            <a:srgbClr val="F59E0B"/>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2000" b="1">
                <a:solidFill>
                  <a:srgbClr val="FFFFFF"/>
                </a:solidFill>
                <a:latin typeface="Calibri"/>
                <a:cs typeface="Calibri"/>
              </a:rPr>
              <a:t>!</a:t>
            </a:r>
          </a:p>
        </p:txBody>
      </p:sp>
      <p:sp>
        <p:nvSpPr>
          <p:cNvPr id="18" name="TextBox 17"/>
          <p:cNvSpPr txBox="1"/>
          <p:nvPr/>
        </p:nvSpPr>
        <p:spPr>
          <a:xfrm>
            <a:off x="1270000" y="5181600"/>
            <a:ext cx="10414000" cy="3302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Sin cloud publica</a:t>
            </a:r>
          </a:p>
        </p:txBody>
      </p:sp>
      <p:sp>
        <p:nvSpPr>
          <p:cNvPr id="19" name="TextBox 18"/>
          <p:cNvSpPr txBox="1"/>
          <p:nvPr/>
        </p:nvSpPr>
        <p:spPr>
          <a:xfrm>
            <a:off x="1270000" y="5511800"/>
            <a:ext cx="104140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Todo corre local sobre VirtualBox. Sin costo, sin dependencia de red externa.</a:t>
            </a:r>
          </a:p>
        </p:txBody>
      </p:sp>
      <p:sp>
        <p:nvSpPr>
          <p:cNvPr id="20" name="TextBox 19"/>
          <p:cNvSpPr txBox="1"/>
          <p:nvPr/>
        </p:nvSpPr>
        <p:spPr>
          <a:xfrm>
            <a:off x="546100" y="6070600"/>
            <a:ext cx="11150600" cy="304800"/>
          </a:xfrm>
          <a:prstGeom prst="rect">
            <a:avLst/>
          </a:prstGeom>
          <a:noFill/>
        </p:spPr>
        <p:txBody>
          <a:bodyPr wrap="square" lIns="0" tIns="0" rIns="0" bIns="0" anchor="t">
            <a:spAutoFit/>
          </a:bodyPr>
          <a:lstStyle/>
          <a:p>
            <a:pPr algn="ctr">
              <a:lnSpc>
                <a:spcPct val="115000"/>
              </a:lnSpc>
            </a:pPr>
            <a:r>
              <a:rPr sz="1300" i="1">
                <a:solidFill>
                  <a:srgbClr val="326CE5"/>
                </a:solidFill>
                <a:latin typeface="Calibri"/>
                <a:cs typeface="Calibri"/>
              </a:rPr>
              <a:t>Esto coincide exactamente con lo declarado en la pre-entrega aprobada.</a:t>
            </a:r>
          </a:p>
        </p:txBody>
      </p:sp>
      <p:sp>
        <p:nvSpPr>
          <p:cNvPr id="21" name="TextBox 20"/>
          <p:cNvSpPr txBox="1"/>
          <p:nvPr/>
        </p:nvSpPr>
        <p:spPr>
          <a:xfrm>
            <a:off x="548640" y="6446520"/>
            <a:ext cx="73152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22" name="TextBox 21"/>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19 / 21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206240" cy="6858000"/>
          </a:xfrm>
          <a:prstGeom prst="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0" y="0"/>
            <a:ext cx="73152" cy="6858000"/>
          </a:xfrm>
          <a:prstGeom prst="rect">
            <a:avLst/>
          </a:prstGeom>
          <a:solidFill>
            <a:srgbClr val="1A2332"/>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44500" y="635000"/>
            <a:ext cx="3429000" cy="35560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cs typeface="Calibri"/>
              </a:rPr>
              <a:t>CIERRE</a:t>
            </a:r>
          </a:p>
        </p:txBody>
      </p:sp>
      <p:sp>
        <p:nvSpPr>
          <p:cNvPr id="5" name="TextBox 4"/>
          <p:cNvSpPr txBox="1"/>
          <p:nvPr/>
        </p:nvSpPr>
        <p:spPr>
          <a:xfrm>
            <a:off x="444500" y="2794000"/>
            <a:ext cx="3429000" cy="1778000"/>
          </a:xfrm>
          <a:prstGeom prst="rect">
            <a:avLst/>
          </a:prstGeom>
          <a:noFill/>
        </p:spPr>
        <p:txBody>
          <a:bodyPr wrap="square" lIns="0" tIns="0" rIns="0" bIns="0" anchor="t">
            <a:spAutoFit/>
          </a:bodyPr>
          <a:lstStyle/>
          <a:p>
            <a:pPr algn="l">
              <a:lnSpc>
                <a:spcPct val="100000"/>
              </a:lnSpc>
            </a:pPr>
            <a:r>
              <a:rPr sz="3200" b="1">
                <a:solidFill>
                  <a:srgbClr val="FFFFFF"/>
                </a:solidFill>
                <a:latin typeface="Calibri"/>
                <a:cs typeface="Calibri"/>
              </a:rPr>
              <a:t>Lo que nos</a:t>
            </a:r>
          </a:p>
          <a:p>
            <a:pPr algn="l">
              <a:lnSpc>
                <a:spcPct val="100000"/>
              </a:lnSpc>
            </a:pPr>
            <a:r>
              <a:rPr sz="3200" b="1">
                <a:solidFill>
                  <a:srgbClr val="FFFFFF"/>
                </a:solidFill>
                <a:latin typeface="Calibri"/>
                <a:cs typeface="Calibri"/>
              </a:rPr>
              <a:t>llevamos.</a:t>
            </a:r>
          </a:p>
        </p:txBody>
      </p:sp>
      <p:sp>
        <p:nvSpPr>
          <p:cNvPr id="6" name="TextBox 5"/>
          <p:cNvSpPr txBox="1"/>
          <p:nvPr/>
        </p:nvSpPr>
        <p:spPr>
          <a:xfrm>
            <a:off x="444500" y="6223000"/>
            <a:ext cx="3429000" cy="317500"/>
          </a:xfrm>
          <a:prstGeom prst="rect">
            <a:avLst/>
          </a:prstGeom>
          <a:noFill/>
        </p:spPr>
        <p:txBody>
          <a:bodyPr wrap="square" lIns="0" tIns="0" rIns="0" bIns="0" anchor="t">
            <a:spAutoFit/>
          </a:bodyPr>
          <a:lstStyle/>
          <a:p>
            <a:pPr algn="l">
              <a:lnSpc>
                <a:spcPct val="115000"/>
              </a:lnSpc>
            </a:pPr>
            <a:r>
              <a:rPr sz="1100">
                <a:solidFill>
                  <a:srgbClr val="DBE7F9"/>
                </a:solidFill>
                <a:latin typeface="Calibri"/>
                <a:cs typeface="Calibri"/>
              </a:rPr>
              <a:t>Grupo 12  -  Tema 6</a:t>
            </a:r>
          </a:p>
        </p:txBody>
      </p:sp>
      <p:sp>
        <p:nvSpPr>
          <p:cNvPr id="7" name="TextBox 6"/>
          <p:cNvSpPr txBox="1"/>
          <p:nvPr/>
        </p:nvSpPr>
        <p:spPr>
          <a:xfrm>
            <a:off x="4660900" y="635000"/>
            <a:ext cx="7137400" cy="508000"/>
          </a:xfrm>
          <a:prstGeom prst="rect">
            <a:avLst/>
          </a:prstGeom>
          <a:noFill/>
        </p:spPr>
        <p:txBody>
          <a:bodyPr wrap="square" lIns="0" tIns="0" rIns="0" bIns="0" anchor="t">
            <a:spAutoFit/>
          </a:bodyPr>
          <a:lstStyle/>
          <a:p>
            <a:pPr algn="l">
              <a:lnSpc>
                <a:spcPct val="115000"/>
              </a:lnSpc>
            </a:pPr>
            <a:r>
              <a:rPr sz="2800" b="1">
                <a:solidFill>
                  <a:srgbClr val="1A2332"/>
                </a:solidFill>
                <a:latin typeface="Calibri"/>
                <a:cs typeface="Calibri"/>
              </a:rPr>
              <a:t>Conclusiones</a:t>
            </a:r>
          </a:p>
        </p:txBody>
      </p:sp>
      <p:sp>
        <p:nvSpPr>
          <p:cNvPr id="8" name="Rounded Rectangle 7"/>
          <p:cNvSpPr/>
          <p:nvPr/>
        </p:nvSpPr>
        <p:spPr>
          <a:xfrm>
            <a:off x="4660900" y="1397000"/>
            <a:ext cx="457200" cy="4572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600" b="1">
                <a:solidFill>
                  <a:srgbClr val="FFFFFF"/>
                </a:solidFill>
                <a:latin typeface="Calibri"/>
                <a:cs typeface="Calibri"/>
              </a:rPr>
              <a:t>1</a:t>
            </a:r>
          </a:p>
        </p:txBody>
      </p:sp>
      <p:sp>
        <p:nvSpPr>
          <p:cNvPr id="9" name="TextBox 8"/>
          <p:cNvSpPr txBox="1"/>
          <p:nvPr/>
        </p:nvSpPr>
        <p:spPr>
          <a:xfrm>
            <a:off x="5346700" y="1371600"/>
            <a:ext cx="6400800" cy="3048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Infraestructura reproducible</a:t>
            </a:r>
          </a:p>
        </p:txBody>
      </p:sp>
      <p:sp>
        <p:nvSpPr>
          <p:cNvPr id="10" name="TextBox 9"/>
          <p:cNvSpPr txBox="1"/>
          <p:nvPr/>
        </p:nvSpPr>
        <p:spPr>
          <a:xfrm>
            <a:off x="5346700" y="1676400"/>
            <a:ext cx="64008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Un Vagrantfile + roles Ansible y cualquiera arma el cluster.</a:t>
            </a:r>
          </a:p>
        </p:txBody>
      </p:sp>
      <p:sp>
        <p:nvSpPr>
          <p:cNvPr id="11" name="Rounded Rectangle 10"/>
          <p:cNvSpPr/>
          <p:nvPr/>
        </p:nvSpPr>
        <p:spPr>
          <a:xfrm>
            <a:off x="4660900" y="2362200"/>
            <a:ext cx="457200" cy="4572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600" b="1">
                <a:solidFill>
                  <a:srgbClr val="FFFFFF"/>
                </a:solidFill>
                <a:latin typeface="Calibri"/>
                <a:cs typeface="Calibri"/>
              </a:rPr>
              <a:t>2</a:t>
            </a:r>
          </a:p>
        </p:txBody>
      </p:sp>
      <p:sp>
        <p:nvSpPr>
          <p:cNvPr id="12" name="TextBox 11"/>
          <p:cNvSpPr txBox="1"/>
          <p:nvPr/>
        </p:nvSpPr>
        <p:spPr>
          <a:xfrm>
            <a:off x="5346700" y="2336800"/>
            <a:ext cx="6400800" cy="3048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Automatizacion idempotente</a:t>
            </a:r>
          </a:p>
        </p:txBody>
      </p:sp>
      <p:sp>
        <p:nvSpPr>
          <p:cNvPr id="13" name="TextBox 12"/>
          <p:cNvSpPr txBox="1"/>
          <p:nvPr/>
        </p:nvSpPr>
        <p:spPr>
          <a:xfrm>
            <a:off x="5346700" y="2641600"/>
            <a:ext cx="64008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Re-correr el playbook no rompe nada; protege la operacion.</a:t>
            </a:r>
          </a:p>
        </p:txBody>
      </p:sp>
      <p:sp>
        <p:nvSpPr>
          <p:cNvPr id="14" name="Rounded Rectangle 13"/>
          <p:cNvSpPr/>
          <p:nvPr/>
        </p:nvSpPr>
        <p:spPr>
          <a:xfrm>
            <a:off x="4660900" y="3327400"/>
            <a:ext cx="457200" cy="4572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600" b="1">
                <a:solidFill>
                  <a:srgbClr val="FFFFFF"/>
                </a:solidFill>
                <a:latin typeface="Calibri"/>
                <a:cs typeface="Calibri"/>
              </a:rPr>
              <a:t>3</a:t>
            </a:r>
          </a:p>
        </p:txBody>
      </p:sp>
      <p:sp>
        <p:nvSpPr>
          <p:cNvPr id="15" name="TextBox 14"/>
          <p:cNvSpPr txBox="1"/>
          <p:nvPr/>
        </p:nvSpPr>
        <p:spPr>
          <a:xfrm>
            <a:off x="5346700" y="3302000"/>
            <a:ext cx="6400800" cy="3048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Cluster Kubernetes real</a:t>
            </a:r>
          </a:p>
        </p:txBody>
      </p:sp>
      <p:sp>
        <p:nvSpPr>
          <p:cNvPr id="16" name="TextBox 15"/>
          <p:cNvSpPr txBox="1"/>
          <p:nvPr/>
        </p:nvSpPr>
        <p:spPr>
          <a:xfrm>
            <a:off x="5346700" y="3606800"/>
            <a:ext cx="64008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K3s multi-nodo sobre VMs, no contenedores ni mocks.</a:t>
            </a:r>
          </a:p>
        </p:txBody>
      </p:sp>
      <p:sp>
        <p:nvSpPr>
          <p:cNvPr id="17" name="Rounded Rectangle 16"/>
          <p:cNvSpPr/>
          <p:nvPr/>
        </p:nvSpPr>
        <p:spPr>
          <a:xfrm>
            <a:off x="4660900" y="4292600"/>
            <a:ext cx="457200" cy="4572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600" b="1">
                <a:solidFill>
                  <a:srgbClr val="FFFFFF"/>
                </a:solidFill>
                <a:latin typeface="Calibri"/>
                <a:cs typeface="Calibri"/>
              </a:rPr>
              <a:t>4</a:t>
            </a:r>
          </a:p>
        </p:txBody>
      </p:sp>
      <p:sp>
        <p:nvSpPr>
          <p:cNvPr id="18" name="TextBox 17"/>
          <p:cNvSpPr txBox="1"/>
          <p:nvPr/>
        </p:nvSpPr>
        <p:spPr>
          <a:xfrm>
            <a:off x="5346700" y="4267200"/>
            <a:ext cx="6400800" cy="3048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App de microservicios funcional</a:t>
            </a:r>
          </a:p>
        </p:txBody>
      </p:sp>
      <p:sp>
        <p:nvSpPr>
          <p:cNvPr id="19" name="TextBox 18"/>
          <p:cNvSpPr txBox="1"/>
          <p:nvPr/>
        </p:nvSpPr>
        <p:spPr>
          <a:xfrm>
            <a:off x="5346700" y="4572000"/>
            <a:ext cx="64008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Validamos el flujo de compra completo, no solo pods Running.</a:t>
            </a:r>
          </a:p>
        </p:txBody>
      </p:sp>
      <p:sp>
        <p:nvSpPr>
          <p:cNvPr id="20" name="Rounded Rectangle 19"/>
          <p:cNvSpPr/>
          <p:nvPr/>
        </p:nvSpPr>
        <p:spPr>
          <a:xfrm>
            <a:off x="4660900" y="5257800"/>
            <a:ext cx="457200" cy="457200"/>
          </a:xfrm>
          <a:prstGeom prst="roundRect">
            <a:avLst/>
          </a:prstGeom>
          <a:solidFill>
            <a:srgbClr val="326CE5"/>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wrap="square" lIns="50000" tIns="30000" rIns="50000" bIns="30000" rtlCol="0" anchor="ctr" anchorCtr="0"/>
          <a:lstStyle/>
          <a:p>
            <a:pPr algn="ctr"/>
            <a:r>
              <a:rPr sz="1600" b="1">
                <a:solidFill>
                  <a:srgbClr val="FFFFFF"/>
                </a:solidFill>
                <a:latin typeface="Calibri"/>
                <a:cs typeface="Calibri"/>
              </a:rPr>
              <a:t>5</a:t>
            </a:r>
          </a:p>
        </p:txBody>
      </p:sp>
      <p:sp>
        <p:nvSpPr>
          <p:cNvPr id="21" name="TextBox 20"/>
          <p:cNvSpPr txBox="1"/>
          <p:nvPr/>
        </p:nvSpPr>
        <p:spPr>
          <a:xfrm>
            <a:off x="5346700" y="5232400"/>
            <a:ext cx="6400800" cy="304800"/>
          </a:xfrm>
          <a:prstGeom prst="rect">
            <a:avLst/>
          </a:prstGeom>
          <a:noFill/>
        </p:spPr>
        <p:txBody>
          <a:bodyPr wrap="square" lIns="0" tIns="0" rIns="0" bIns="0" anchor="t">
            <a:spAutoFit/>
          </a:bodyPr>
          <a:lstStyle/>
          <a:p>
            <a:pPr algn="l">
              <a:lnSpc>
                <a:spcPct val="115000"/>
              </a:lnSpc>
            </a:pPr>
            <a:r>
              <a:rPr sz="1500" b="1">
                <a:solidFill>
                  <a:srgbClr val="1A2332"/>
                </a:solidFill>
                <a:latin typeface="Calibri"/>
                <a:cs typeface="Calibri"/>
              </a:rPr>
              <a:t>Gestion en caliente</a:t>
            </a:r>
          </a:p>
        </p:txBody>
      </p:sp>
      <p:sp>
        <p:nvSpPr>
          <p:cNvPr id="22" name="TextBox 21"/>
          <p:cNvSpPr txBox="1"/>
          <p:nvPr/>
        </p:nvSpPr>
        <p:spPr>
          <a:xfrm>
            <a:off x="5346700" y="5537200"/>
            <a:ext cx="6400800" cy="457200"/>
          </a:xfrm>
          <a:prstGeom prst="rect">
            <a:avLst/>
          </a:prstGeom>
          <a:noFill/>
        </p:spPr>
        <p:txBody>
          <a:bodyPr wrap="square" lIns="0" tIns="0" rIns="0" bIns="0" anchor="t">
            <a:spAutoFit/>
          </a:bodyPr>
          <a:lstStyle/>
          <a:p>
            <a:pPr algn="l">
              <a:lnSpc>
                <a:spcPct val="115000"/>
              </a:lnSpc>
            </a:pPr>
            <a:r>
              <a:rPr sz="1300">
                <a:solidFill>
                  <a:srgbClr val="4A5568"/>
                </a:solidFill>
                <a:latin typeface="Calibri"/>
                <a:cs typeface="Calibri"/>
              </a:rPr>
              <a:t>Sumamos un nodo al cluster sin reinstalar el entorno.</a:t>
            </a:r>
          </a:p>
        </p:txBody>
      </p:sp>
      <p:sp>
        <p:nvSpPr>
          <p:cNvPr id="23" name="TextBox 22"/>
          <p:cNvSpPr txBox="1"/>
          <p:nvPr/>
        </p:nvSpPr>
        <p:spPr>
          <a:xfrm>
            <a:off x="4660900" y="6446520"/>
            <a:ext cx="5715000" cy="320040"/>
          </a:xfrm>
          <a:prstGeom prst="rect">
            <a:avLst/>
          </a:prstGeom>
          <a:noFill/>
        </p:spPr>
        <p:txBody>
          <a:bodyPr wrap="square" lIns="0" tIns="0" rIns="0" bIns="0" anchor="t">
            <a:spAutoFit/>
          </a:bodyPr>
          <a:lstStyle/>
          <a:p>
            <a:pPr algn="l">
              <a:lnSpc>
                <a:spcPct val="115000"/>
              </a:lnSpc>
            </a:pPr>
            <a:r>
              <a:rPr sz="900">
                <a:solidFill>
                  <a:srgbClr val="94A3B8"/>
                </a:solidFill>
                <a:latin typeface="Calibri"/>
                <a:cs typeface="Calibri"/>
              </a:rPr>
              <a:t>TPE Redes de Informacion - Grupo 12 - Kubernetes</a:t>
            </a:r>
          </a:p>
        </p:txBody>
      </p:sp>
      <p:sp>
        <p:nvSpPr>
          <p:cNvPr id="24" name="TextBox 23"/>
          <p:cNvSpPr txBox="1"/>
          <p:nvPr/>
        </p:nvSpPr>
        <p:spPr>
          <a:xfrm>
            <a:off x="10515600" y="6446520"/>
            <a:ext cx="1371600" cy="320040"/>
          </a:xfrm>
          <a:prstGeom prst="rect">
            <a:avLst/>
          </a:prstGeom>
          <a:noFill/>
        </p:spPr>
        <p:txBody>
          <a:bodyPr wrap="square" lIns="0" tIns="0" rIns="0" bIns="0" anchor="t">
            <a:spAutoFit/>
          </a:bodyPr>
          <a:lstStyle/>
          <a:p>
            <a:pPr algn="r">
              <a:lnSpc>
                <a:spcPct val="115000"/>
              </a:lnSpc>
            </a:pPr>
            <a:r>
              <a:rPr sz="900">
                <a:solidFill>
                  <a:srgbClr val="94A3B8"/>
                </a:solidFill>
                <a:latin typeface="Calibri"/>
                <a:cs typeface="Calibri"/>
              </a:rPr>
              <a:t>20 / 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2332"/>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6100" y="2222500"/>
            <a:ext cx="10972800" cy="1270000"/>
          </a:xfrm>
          <a:prstGeom prst="rect">
            <a:avLst/>
          </a:prstGeom>
          <a:noFill/>
        </p:spPr>
        <p:txBody>
          <a:bodyPr wrap="square" lIns="0" tIns="0" rIns="0" bIns="0" anchor="t">
            <a:spAutoFit/>
          </a:bodyPr>
          <a:lstStyle/>
          <a:p>
            <a:pPr algn="ctr">
              <a:lnSpc>
                <a:spcPct val="115000"/>
              </a:lnSpc>
            </a:pPr>
            <a:r>
              <a:rPr sz="7200" b="1">
                <a:solidFill>
                  <a:srgbClr val="FFFFFF"/>
                </a:solidFill>
                <a:latin typeface="Calibri"/>
                <a:cs typeface="Calibri"/>
              </a:rPr>
              <a:t>Preguntas</a:t>
            </a:r>
          </a:p>
        </p:txBody>
      </p:sp>
      <p:cxnSp>
        <p:nvCxnSpPr>
          <p:cNvPr id="4" name="Connector 3"/>
          <p:cNvCxnSpPr/>
          <p:nvPr/>
        </p:nvCxnSpPr>
        <p:spPr>
          <a:xfrm>
            <a:off x="5461000" y="3746500"/>
            <a:ext cx="1270000" cy="0"/>
          </a:xfrm>
          <a:prstGeom prst="line">
            <a:avLst/>
          </a:prstGeom>
          <a:ln w="31750">
            <a:solidFill>
              <a:srgbClr val="4472C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6100" y="4000500"/>
            <a:ext cx="10972800" cy="508000"/>
          </a:xfrm>
          <a:prstGeom prst="rect">
            <a:avLst/>
          </a:prstGeom>
          <a:noFill/>
        </p:spPr>
        <p:txBody>
          <a:bodyPr wrap="square" lIns="0" tIns="0" rIns="0" bIns="0" anchor="t">
            <a:spAutoFit/>
          </a:bodyPr>
          <a:lstStyle/>
          <a:p>
            <a:pPr algn="ctr">
              <a:lnSpc>
                <a:spcPct val="115000"/>
              </a:lnSpc>
            </a:pPr>
            <a:r>
              <a:rPr sz="2400" b="1">
                <a:solidFill>
                  <a:srgbClr val="326CE5"/>
                </a:solidFill>
                <a:latin typeface="Calibri"/>
                <a:cs typeface="Calibri"/>
              </a:rPr>
              <a:t>Gracias.</a:t>
            </a:r>
          </a:p>
        </p:txBody>
      </p:sp>
      <p:sp>
        <p:nvSpPr>
          <p:cNvPr id="6" name="TextBox 5"/>
          <p:cNvSpPr txBox="1"/>
          <p:nvPr/>
        </p:nvSpPr>
        <p:spPr>
          <a:xfrm>
            <a:off x="546100" y="5461000"/>
            <a:ext cx="10972800" cy="381000"/>
          </a:xfrm>
          <a:prstGeom prst="rect">
            <a:avLst/>
          </a:prstGeom>
          <a:noFill/>
        </p:spPr>
        <p:txBody>
          <a:bodyPr wrap="square" lIns="0" tIns="0" rIns="0" bIns="0" anchor="t">
            <a:spAutoFit/>
          </a:bodyPr>
          <a:lstStyle/>
          <a:p>
            <a:pPr algn="ctr">
              <a:lnSpc>
                <a:spcPct val="115000"/>
              </a:lnSpc>
            </a:pPr>
            <a:r>
              <a:rPr sz="1200">
                <a:solidFill>
                  <a:srgbClr val="94A3B8"/>
                </a:solidFill>
                <a:latin typeface="Consolas"/>
                <a:cs typeface="Consolas"/>
              </a:rPr>
              <a:t>Repo: github / docs/how-to.md, docs/plan-ejecucion-k3s-the-store.md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EF8E5E6-EBE8-514C-8CFB-BDA3E0A8F3BC}">
  <we:reference id="wa200010001" version="1.0.0.1" store="en-US" storeType="OMEX"/>
  <we:alternateReferences>
    <we:reference id="wa200010001" version="1.0.0.1" store="en-US" storeType="OMEX"/>
  </we:alternateReferences>
  <we:properties>
    <we:property name="claude.fileId" value="&quot;24ff94b8-b072-48f4-a9d0-e7ad5a4bf9d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44</TotalTime>
  <Words>3542</Words>
  <Application>Microsoft Macintosh PowerPoint</Application>
  <PresentationFormat>Widescreen</PresentationFormat>
  <Paragraphs>472</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Jose Benegas Lynch</cp:lastModifiedBy>
  <cp:revision>4</cp:revision>
  <dcterms:created xsi:type="dcterms:W3CDTF">2013-01-27T09:14:16Z</dcterms:created>
  <dcterms:modified xsi:type="dcterms:W3CDTF">2026-06-08T21:56:54Z</dcterms:modified>
  <cp:category/>
</cp:coreProperties>
</file>